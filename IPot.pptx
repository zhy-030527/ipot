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62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93" r:id="rId17"/>
    <p:sldId id="290" r:id="rId18"/>
    <p:sldId id="294" r:id="rId19"/>
    <p:sldId id="291" r:id="rId20"/>
    <p:sldId id="295" r:id="rId21"/>
    <p:sldId id="296" r:id="rId22"/>
    <p:sldId id="265" r:id="rId23"/>
    <p:sldId id="300" r:id="rId24"/>
    <p:sldId id="266" r:id="rId25"/>
    <p:sldId id="267" r:id="rId26"/>
    <p:sldId id="268" r:id="rId27"/>
    <p:sldId id="289" r:id="rId28"/>
    <p:sldId id="298" r:id="rId29"/>
    <p:sldId id="297" r:id="rId30"/>
    <p:sldId id="259" r:id="rId31"/>
    <p:sldId id="275" r:id="rId32"/>
    <p:sldId id="274" r:id="rId33"/>
    <p:sldId id="263" r:id="rId34"/>
    <p:sldId id="264" r:id="rId35"/>
    <p:sldId id="270" r:id="rId36"/>
    <p:sldId id="271" r:id="rId37"/>
    <p:sldId id="277" r:id="rId38"/>
    <p:sldId id="299" r:id="rId39"/>
    <p:sldId id="278" r:id="rId40"/>
    <p:sldId id="279" r:id="rId41"/>
    <p:sldId id="301" r:id="rId42"/>
    <p:sldId id="303" r:id="rId43"/>
    <p:sldId id="302" r:id="rId44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2EEB3C-89CA-40DA-894B-E7EAE96AB0E9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1905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1"/>
              <a:lumOff val="89999"/>
            </a:schemeClr>
          </a:solidFill>
        </a:fill>
      </a:tcStyle>
    </a:band2H>
    <a:band1V>
      <a:tcStyle>
        <a:tcBdr/>
        <a:fill>
          <a:solidFill>
            <a:schemeClr val="accent1">
              <a:lumMod val="10001"/>
              <a:lumOff val="89999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chemeClr val="accent1">
              <a:lumMod val="20002"/>
              <a:lumOff val="79998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20002"/>
              <a:lumOff val="79998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gs" Target="tags/tag180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altLang="zh-CN" smtClean="0"/>
              <a:t>qianruzongshi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altLang="zh-CN" smtClean="0"/>
              <a:t>qianruzongshi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altLang="zh-CN" smtClean="0"/>
              <a:t>qianruzongshi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altLang="zh-CN" smtClean="0"/>
              <a:t>qianruzongshi</a:t>
            </a:r>
            <a:endParaRPr lang="en-US" altLang="zh-CN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qianruzongshi</a:t>
            </a:r>
            <a:endParaRPr lang="en-US" altLang="zh-CN" smtClean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qianruzongshi</a:t>
            </a:r>
            <a:endParaRPr lang="en-US" altLang="zh-CN" smtClean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40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tags" Target="../tags/tag12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4.xml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5.xml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6.xml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7.xml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8.xml"/><Relationship Id="rId2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9.xml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0.xml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1.xml"/><Relationship Id="rId2" Type="http://schemas.openxmlformats.org/officeDocument/2006/relationships/image" Target="../media/image23.sv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3.xml"/><Relationship Id="rId2" Type="http://schemas.openxmlformats.org/officeDocument/2006/relationships/image" Target="../media/image26.sv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4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5.xml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6.xml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7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9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0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1.xml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2.xml"/><Relationship Id="rId1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6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7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8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69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0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1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3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6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7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8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79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1755" y="2646045"/>
            <a:ext cx="7054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/>
              <a:t>智慧盆栽（</a:t>
            </a:r>
            <a:r>
              <a:rPr lang="en-US" altLang="zh-CN" sz="3600"/>
              <a:t>IPOT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endParaRPr lang="zh-CN" altLang="en-US" sz="1600" b="0" i="0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1850390" y="3713480"/>
            <a:ext cx="1797685" cy="742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 rot="10800000" flipH="1" flipV="1">
            <a:off x="86360" y="159385"/>
            <a:ext cx="11880850" cy="3226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/>
              <a:t>硬件</a:t>
            </a:r>
            <a:r>
              <a:rPr lang="zh-CN" altLang="en-US"/>
              <a:t>设备：</a:t>
            </a:r>
            <a:endParaRPr lang="zh-CN" altLang="en-US"/>
          </a:p>
          <a:p>
            <a:pPr algn="l"/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STM32F103C8T6	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en-US" altLang="zh-CN"/>
          </a:p>
          <a:p>
            <a:pPr algn="l"/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DHT11</a:t>
            </a:r>
            <a:r>
              <a:rPr lang="zh-CN" altLang="en-US"/>
              <a:t>（温湿度传感器）</a:t>
            </a:r>
            <a:r>
              <a:rPr lang="en-US" altLang="zh-CN"/>
              <a:t>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/>
          </a:p>
          <a:p>
            <a:pPr algn="l"/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BH1750</a:t>
            </a:r>
            <a:r>
              <a:rPr lang="zh-CN" altLang="en-US"/>
              <a:t>（光照传感器）</a:t>
            </a:r>
            <a:r>
              <a:rPr lang="en-US" altLang="zh-CN"/>
              <a:t>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/>
          </a:p>
          <a:p>
            <a:pPr algn="l"/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ESP8266</a:t>
            </a:r>
            <a:r>
              <a:rPr lang="zh-CN" altLang="en-US"/>
              <a:t>（无线传输模块）</a:t>
            </a:r>
            <a:r>
              <a:rPr lang="en-US" altLang="zh-CN"/>
              <a:t>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√</a:t>
            </a:r>
            <a:endParaRPr lang="zh-CN" altLang="en-US"/>
          </a:p>
          <a:p>
            <a:pPr algn="l"/>
            <a:r>
              <a:rPr lang="en-US" altLang="zh-CN"/>
              <a:t>5</a:t>
            </a:r>
            <a:r>
              <a:rPr lang="zh-CN" altLang="en-US"/>
              <a:t>、电容式土壤湿度传感器</a:t>
            </a:r>
            <a:r>
              <a:rPr lang="en-US" altLang="zh-CN"/>
              <a:t>	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/>
          </a:p>
          <a:p>
            <a:pPr algn="l"/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MOS</a:t>
            </a:r>
            <a:r>
              <a:rPr lang="zh-CN" altLang="en-US"/>
              <a:t>开关（控制水泵）</a:t>
            </a:r>
            <a:r>
              <a:rPr lang="en-US" altLang="zh-CN"/>
              <a:t>	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√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l"/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en-US" altLang="zh-CN"/>
              <a:t>LED</a:t>
            </a:r>
            <a:r>
              <a:rPr lang="zh-CN" altLang="en-US"/>
              <a:t>灯</a:t>
            </a:r>
            <a:r>
              <a:rPr lang="en-US" altLang="zh-CN"/>
              <a:t>		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√</a:t>
            </a:r>
            <a:endParaRPr lang="zh-CN" altLang="en-US"/>
          </a:p>
          <a:p>
            <a:pPr algn="l"/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en-US" altLang="zh-CN"/>
              <a:t>OLED</a:t>
            </a:r>
            <a:r>
              <a:rPr lang="zh-CN" altLang="en-US"/>
              <a:t>显示屏</a:t>
            </a:r>
            <a:r>
              <a:rPr lang="en-US" altLang="zh-CN"/>
              <a:t>			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√</a:t>
            </a:r>
            <a:endParaRPr lang="en-US" altLang="zh-CN"/>
          </a:p>
        </p:txBody>
      </p:sp>
      <p:grpSp>
        <p:nvGrpSpPr>
          <p:cNvPr id="9" name="组合 8"/>
          <p:cNvGrpSpPr/>
          <p:nvPr/>
        </p:nvGrpSpPr>
        <p:grpSpPr>
          <a:xfrm>
            <a:off x="1878965" y="3744595"/>
            <a:ext cx="7860030" cy="2450465"/>
            <a:chOff x="1434" y="5902"/>
            <a:chExt cx="12378" cy="3859"/>
          </a:xfrm>
        </p:grpSpPr>
        <p:sp>
          <p:nvSpPr>
            <p:cNvPr id="5" name="矩形 4"/>
            <p:cNvSpPr/>
            <p:nvPr/>
          </p:nvSpPr>
          <p:spPr>
            <a:xfrm>
              <a:off x="9057" y="5902"/>
              <a:ext cx="2527" cy="3854"/>
            </a:xfrm>
            <a:prstGeom prst="rect">
              <a:avLst/>
            </a:prstGeom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1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WIFI + </a:t>
              </a:r>
              <a:r>
                <a:rPr lang="en-US" altLang="zh-CN"/>
                <a:t>MQTT</a:t>
              </a:r>
              <a:endParaRPr lang="en-US" altLang="zh-CN"/>
            </a:p>
          </p:txBody>
        </p:sp>
        <p:sp>
          <p:nvSpPr>
            <p:cNvPr id="6" name="矩形 5"/>
            <p:cNvSpPr/>
            <p:nvPr/>
          </p:nvSpPr>
          <p:spPr>
            <a:xfrm>
              <a:off x="4511" y="5902"/>
              <a:ext cx="2789" cy="10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STM32</a:t>
              </a:r>
              <a:endParaRPr lang="en-US" altLang="zh-CN"/>
            </a:p>
          </p:txBody>
        </p:sp>
        <p:sp>
          <p:nvSpPr>
            <p:cNvPr id="7" name="矩形 6"/>
            <p:cNvSpPr/>
            <p:nvPr/>
          </p:nvSpPr>
          <p:spPr>
            <a:xfrm>
              <a:off x="4511" y="7293"/>
              <a:ext cx="2789" cy="5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/>
                <a:t>DHT11</a:t>
              </a:r>
              <a:endParaRPr lang="en-US" altLang="zh-CN" sz="1600"/>
            </a:p>
          </p:txBody>
        </p:sp>
        <p:sp>
          <p:nvSpPr>
            <p:cNvPr id="8" name="矩形 7"/>
            <p:cNvSpPr/>
            <p:nvPr/>
          </p:nvSpPr>
          <p:spPr>
            <a:xfrm>
              <a:off x="4511" y="8024"/>
              <a:ext cx="2789" cy="571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sym typeface="+mn-ea"/>
                </a:rPr>
                <a:t>BH1750</a:t>
              </a:r>
              <a:endParaRPr lang="en-US" altLang="zh-CN" sz="1600">
                <a:sym typeface="+mn-ea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588" y="5902"/>
              <a:ext cx="1099" cy="3854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ESP8266</a:t>
              </a:r>
              <a:endParaRPr lang="en-US" altLang="zh-CN"/>
            </a:p>
          </p:txBody>
        </p:sp>
        <p:cxnSp>
          <p:nvCxnSpPr>
            <p:cNvPr id="12" name="直接箭头连接符 11"/>
            <p:cNvCxnSpPr>
              <a:stCxn id="6" idx="3"/>
            </p:cNvCxnSpPr>
            <p:nvPr/>
          </p:nvCxnSpPr>
          <p:spPr>
            <a:xfrm flipV="1">
              <a:off x="7300" y="6438"/>
              <a:ext cx="2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4511" y="8781"/>
              <a:ext cx="2789" cy="9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 anchorCtr="1"/>
            <a:p>
              <a:pPr algn="ctr"/>
              <a:endParaRPr lang="zh-CN" altLang="en-US" sz="1600">
                <a:latin typeface="PingFang SC" panose="020B0400000000000000" charset="-122"/>
                <a:ea typeface="PingFang SC" panose="020B0400000000000000" charset="-122"/>
                <a:sym typeface="+mn-ea"/>
              </a:endParaRPr>
            </a:p>
            <a:p>
              <a:pPr algn="ctr"/>
              <a:r>
                <a:rPr lang="zh-CN" altLang="en-US" sz="1600">
                  <a:latin typeface="黑体" panose="02010609060101010101" charset="-122"/>
                  <a:ea typeface="黑体" panose="02010609060101010101" charset="-122"/>
                  <a:sym typeface="+mn-ea"/>
                </a:rPr>
                <a:t>电容式土壤湿度检测传感器</a:t>
              </a:r>
              <a:endParaRPr lang="zh-CN" altLang="en-US" sz="1600" b="0" i="0">
                <a:latin typeface="PingFang SC" panose="020B0400000000000000" charset="-122"/>
                <a:ea typeface="PingFang SC" panose="020B0400000000000000" charset="-122"/>
              </a:endParaRPr>
            </a:p>
            <a:p>
              <a:pPr algn="ctr"/>
              <a:endParaRPr lang="en-US" altLang="zh-CN" sz="1600">
                <a:sym typeface="+mn-ea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V="1">
              <a:off x="8733" y="7838"/>
              <a:ext cx="2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2334" y="5907"/>
              <a:ext cx="1478" cy="3854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小</a:t>
              </a:r>
              <a:r>
                <a:rPr lang="zh-CN" altLang="en-US"/>
                <a:t>程序</a:t>
              </a:r>
              <a:endParaRPr lang="zh-CN" altLang="en-US"/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11577" y="7518"/>
              <a:ext cx="7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H="1">
              <a:off x="11607" y="8058"/>
              <a:ext cx="7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/>
          </p:nvSpPr>
          <p:spPr>
            <a:xfrm>
              <a:off x="1434" y="5907"/>
              <a:ext cx="2789" cy="421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/>
                <a:t>LED</a:t>
              </a:r>
              <a:r>
                <a:rPr lang="zh-CN" altLang="en-US" sz="1600"/>
                <a:t>灯</a:t>
              </a:r>
              <a:endParaRPr lang="zh-CN" altLang="en-US" sz="1600"/>
            </a:p>
          </p:txBody>
        </p:sp>
        <p:sp>
          <p:nvSpPr>
            <p:cNvPr id="3" name="矩形 2"/>
            <p:cNvSpPr/>
            <p:nvPr/>
          </p:nvSpPr>
          <p:spPr>
            <a:xfrm>
              <a:off x="1434" y="6534"/>
              <a:ext cx="2789" cy="44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/>
                <a:t>MOS</a:t>
              </a:r>
              <a:r>
                <a:rPr lang="zh-CN" altLang="en-US" sz="1600"/>
                <a:t>开关</a:t>
              </a:r>
              <a:endParaRPr lang="zh-CN" altLang="en-US" sz="1600"/>
            </a:p>
          </p:txBody>
        </p:sp>
      </p:grpSp>
      <p:cxnSp>
        <p:nvCxnSpPr>
          <p:cNvPr id="20" name="直接箭头连接符 19"/>
          <p:cNvCxnSpPr/>
          <p:nvPr/>
        </p:nvCxnSpPr>
        <p:spPr>
          <a:xfrm flipV="1">
            <a:off x="3656965" y="4084955"/>
            <a:ext cx="1758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 rot="10800000" flipH="1" flipV="1">
            <a:off x="260350" y="158750"/>
            <a:ext cx="11880850" cy="1879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/>
            <a:r>
              <a:rPr lang="zh-CN" altLang="en-US"/>
              <a:t>第一部分：基础</a:t>
            </a:r>
            <a:r>
              <a:rPr lang="zh-CN" altLang="en-US"/>
              <a:t>搭建</a:t>
            </a:r>
            <a:endParaRPr lang="zh-CN" altLang="en-US"/>
          </a:p>
          <a:p>
            <a:pPr algn="l"/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DHT11</a:t>
            </a:r>
            <a:r>
              <a:rPr lang="zh-CN" altLang="en-US"/>
              <a:t>温湿度传感器驱动代码</a:t>
            </a:r>
            <a:r>
              <a:rPr lang="zh-CN" altLang="en-US"/>
              <a:t>编写</a:t>
            </a:r>
            <a:endParaRPr lang="zh-CN" altLang="en-US"/>
          </a:p>
          <a:p>
            <a:pPr algn="l"/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>
                <a:sym typeface="+mn-ea"/>
              </a:rPr>
              <a:t>BH1750</a:t>
            </a:r>
            <a:r>
              <a:rPr lang="zh-CN" altLang="en-US">
                <a:sym typeface="+mn-ea"/>
              </a:rPr>
              <a:t>光照传感器驱动代码编写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LED</a:t>
            </a:r>
            <a:r>
              <a:rPr lang="zh-CN" altLang="en-US">
                <a:sym typeface="+mn-ea"/>
              </a:rPr>
              <a:t>以及继电器控制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、电容式土壤湿度传感器驱动代码编写</a:t>
            </a:r>
            <a:endParaRPr lang="zh-CN" altLang="en-US"/>
          </a:p>
          <a:p>
            <a:pPr algn="l"/>
            <a:endParaRPr lang="zh-CN" altLang="en-US"/>
          </a:p>
        </p:txBody>
      </p:sp>
      <p:grpSp>
        <p:nvGrpSpPr>
          <p:cNvPr id="22" name="组合 21"/>
          <p:cNvGrpSpPr/>
          <p:nvPr>
            <p:custDataLst>
              <p:tags r:id="rId1"/>
            </p:custDataLst>
          </p:nvPr>
        </p:nvGrpSpPr>
        <p:grpSpPr>
          <a:xfrm>
            <a:off x="1733550" y="2273300"/>
            <a:ext cx="8045450" cy="3314700"/>
            <a:chOff x="560" y="3010"/>
            <a:chExt cx="12670" cy="5220"/>
          </a:xfrm>
        </p:grpSpPr>
        <p:sp>
          <p:nvSpPr>
            <p:cNvPr id="2" name="矩形 1"/>
            <p:cNvSpPr/>
            <p:nvPr>
              <p:custDataLst>
                <p:tags r:id="rId2"/>
              </p:custDataLst>
            </p:nvPr>
          </p:nvSpPr>
          <p:spPr>
            <a:xfrm>
              <a:off x="560" y="3010"/>
              <a:ext cx="3930" cy="24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DHT11</a:t>
              </a:r>
              <a:endParaRPr lang="en-US" altLang="zh-CN"/>
            </a:p>
            <a:p>
              <a:pPr algn="ctr"/>
              <a:r>
                <a:rPr lang="zh-CN" altLang="en-US"/>
                <a:t>采用单</a:t>
              </a:r>
              <a:r>
                <a:rPr lang="zh-CN" altLang="en-US"/>
                <a:t>总线通讯</a:t>
              </a:r>
              <a:endParaRPr lang="zh-CN" altLang="en-US"/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560" y="5760"/>
              <a:ext cx="3930" cy="24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BH1750</a:t>
              </a:r>
              <a:endParaRPr lang="en-US" altLang="zh-CN"/>
            </a:p>
            <a:p>
              <a:pPr algn="ctr"/>
              <a:r>
                <a:rPr lang="zh-CN" altLang="en-US"/>
                <a:t>采用</a:t>
              </a:r>
              <a:r>
                <a:rPr lang="en-US" altLang="zh-CN"/>
                <a:t>I2C</a:t>
              </a:r>
              <a:r>
                <a:rPr lang="zh-CN" altLang="en-US"/>
                <a:t>通讯</a:t>
              </a:r>
              <a:endParaRPr lang="zh-CN" altLang="en-US"/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4930" y="3010"/>
              <a:ext cx="3930" cy="24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电容式土壤湿度传感器</a:t>
              </a:r>
              <a:endParaRPr lang="en-US" altLang="zh-CN"/>
            </a:p>
            <a:p>
              <a:pPr algn="ctr"/>
              <a:r>
                <a:rPr lang="zh-CN" altLang="en-US"/>
                <a:t>采用</a:t>
              </a:r>
              <a:r>
                <a:rPr lang="en-US" altLang="zh-CN"/>
                <a:t>ADC</a:t>
              </a:r>
              <a:r>
                <a:rPr lang="zh-CN" altLang="en-US"/>
                <a:t>通讯</a:t>
              </a:r>
              <a:endParaRPr lang="zh-CN" altLang="en-US"/>
            </a:p>
          </p:txBody>
        </p:sp>
        <p:sp>
          <p:nvSpPr>
            <p:cNvPr id="19" name="矩形 18"/>
            <p:cNvSpPr/>
            <p:nvPr>
              <p:custDataLst>
                <p:tags r:id="rId5"/>
              </p:custDataLst>
            </p:nvPr>
          </p:nvSpPr>
          <p:spPr>
            <a:xfrm>
              <a:off x="4930" y="5760"/>
              <a:ext cx="3930" cy="24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继电器</a:t>
              </a:r>
              <a:r>
                <a:rPr lang="zh-CN" altLang="en-US"/>
                <a:t>控制</a:t>
              </a:r>
              <a:endParaRPr lang="zh-CN" altLang="en-US"/>
            </a:p>
            <a:p>
              <a:pPr algn="ctr"/>
              <a:r>
                <a:rPr lang="zh-CN" altLang="en-US"/>
                <a:t>采用</a:t>
              </a:r>
              <a:r>
                <a:rPr lang="en-US" altLang="zh-CN"/>
                <a:t>GPIO</a:t>
              </a:r>
              <a:endParaRPr lang="en-US" altLang="zh-CN"/>
            </a:p>
          </p:txBody>
        </p:sp>
        <p:sp>
          <p:nvSpPr>
            <p:cNvPr id="20" name="矩形 19"/>
            <p:cNvSpPr/>
            <p:nvPr>
              <p:custDataLst>
                <p:tags r:id="rId6"/>
              </p:custDataLst>
            </p:nvPr>
          </p:nvSpPr>
          <p:spPr>
            <a:xfrm>
              <a:off x="9300" y="3010"/>
              <a:ext cx="3930" cy="24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串口</a:t>
              </a:r>
              <a:r>
                <a:rPr lang="zh-CN" altLang="en-US"/>
                <a:t>通讯</a:t>
              </a:r>
              <a:endParaRPr lang="zh-CN" altLang="en-US"/>
            </a:p>
            <a:p>
              <a:pPr algn="ctr"/>
              <a:r>
                <a:rPr lang="zh-CN" altLang="en-US"/>
                <a:t>采用</a:t>
              </a:r>
              <a:r>
                <a:rPr lang="en-US" altLang="zh-CN"/>
                <a:t>Usart</a:t>
              </a:r>
              <a:r>
                <a:rPr lang="zh-CN" altLang="en-US"/>
                <a:t>通讯</a:t>
              </a:r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7"/>
              </p:custDataLst>
            </p:nvPr>
          </p:nvSpPr>
          <p:spPr>
            <a:xfrm>
              <a:off x="9300" y="5760"/>
              <a:ext cx="3930" cy="247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LED</a:t>
              </a:r>
              <a:r>
                <a:rPr lang="zh-CN" altLang="en-US"/>
                <a:t>控制</a:t>
              </a:r>
              <a:endParaRPr lang="zh-CN" altLang="en-US"/>
            </a:p>
            <a:p>
              <a:pPr algn="ctr"/>
              <a:r>
                <a:rPr lang="zh-CN" altLang="en-US"/>
                <a:t>采用</a:t>
              </a:r>
              <a:r>
                <a:rPr lang="en-US" altLang="zh-CN"/>
                <a:t>GPIO</a:t>
              </a:r>
              <a:endParaRPr lang="en-US" altLang="zh-CN"/>
            </a:p>
          </p:txBody>
        </p:sp>
      </p:grp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3794760" y="347345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6569710" y="347345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9344660" y="347345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3794760" y="521970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2"/>
            </p:custDataLst>
          </p:nvPr>
        </p:nvSpPr>
        <p:spPr>
          <a:xfrm>
            <a:off x="6569710" y="521970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9344660" y="521970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DHT11</a:t>
            </a:r>
            <a:r>
              <a:rPr lang="zh-CN" altLang="en-US" b="1"/>
              <a:t>温湿度传感器：采用单总线通讯协议（他与</a:t>
            </a:r>
            <a:r>
              <a:rPr lang="en-US" altLang="zh-CN" b="1"/>
              <a:t>DALLAS 1-wire</a:t>
            </a:r>
            <a:r>
              <a:rPr lang="zh-CN" altLang="en-US" b="1"/>
              <a:t>略有不同）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211455" y="556260"/>
            <a:ext cx="1165479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、配置单片机时，需要将管脚设置为漏极开路，并且处于</a:t>
            </a:r>
            <a:r>
              <a:rPr lang="zh-CN" altLang="en-US"/>
              <a:t>上拉状态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）主机和从机都执行一个操作就是将总线拉低（</a:t>
            </a:r>
            <a:r>
              <a:rPr lang="en-US" altLang="zh-CN"/>
              <a:t>0</a:t>
            </a:r>
            <a:r>
              <a:rPr lang="zh-CN" altLang="en-US"/>
              <a:t>），当没有处于拉低状态时，总线始终处于高电位（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、单总线</a:t>
            </a:r>
            <a:r>
              <a:rPr lang="zh-CN" altLang="en-US"/>
              <a:t>通讯协议：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）特点：</a:t>
            </a:r>
            <a:endParaRPr lang="zh-CN" altLang="en-US"/>
          </a:p>
          <a:p>
            <a:pPr marL="457200" lvl="1" indent="457200"/>
            <a:r>
              <a:rPr lang="en-US" altLang="zh-CN"/>
              <a:t>a.</a:t>
            </a:r>
            <a:r>
              <a:rPr lang="zh-CN" altLang="en-US"/>
              <a:t>只有一根数据线，既传输数据也传输时钟，数据传输是双向的，但是不能同时进行属于</a:t>
            </a:r>
            <a:r>
              <a:rPr lang="zh-CN" altLang="en-US"/>
              <a:t>半双工</a:t>
            </a:r>
            <a:endParaRPr lang="zh-CN" altLang="en-US"/>
          </a:p>
          <a:p>
            <a:pPr marL="457200" lvl="1" indent="457200"/>
            <a:r>
              <a:rPr lang="en-US" altLang="zh-CN"/>
              <a:t>b.</a:t>
            </a:r>
            <a:r>
              <a:rPr lang="zh-CN" altLang="en-US"/>
              <a:t>支持多设备连接，通过总线共享</a:t>
            </a:r>
            <a:endParaRPr lang="zh-CN" altLang="en-US"/>
          </a:p>
          <a:p>
            <a:pPr marL="0" lvl="1" indent="457200" fontAlgn="auto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）基本时序</a:t>
            </a:r>
            <a:endParaRPr lang="zh-CN" altLang="en-US"/>
          </a:p>
          <a:p>
            <a:pPr marL="0" lvl="1" indent="457200" fontAlgn="auto"/>
            <a:r>
              <a:rPr lang="zh-CN" altLang="en-US"/>
              <a:t> </a:t>
            </a:r>
            <a:r>
              <a:rPr lang="en-US" altLang="zh-CN"/>
              <a:t>      a.</a:t>
            </a:r>
            <a:r>
              <a:rPr lang="zh-CN" altLang="en-US"/>
              <a:t>基本流程：初始化、读时序、释放</a:t>
            </a:r>
            <a:r>
              <a:rPr lang="zh-CN" altLang="en-US"/>
              <a:t>总线</a:t>
            </a:r>
            <a:endParaRPr lang="zh-CN" altLang="en-US"/>
          </a:p>
          <a:p>
            <a:pPr marL="0" lvl="1" indent="457200" fontAlgn="auto"/>
            <a:r>
              <a:rPr lang="en-US" altLang="zh-CN"/>
              <a:t>       b.</a:t>
            </a:r>
            <a:r>
              <a:rPr lang="zh-CN" altLang="en-US"/>
              <a:t>初始化时，主机将总线拉低，保持</a:t>
            </a:r>
            <a:r>
              <a:rPr lang="en-US" altLang="zh-CN"/>
              <a:t>18</a:t>
            </a:r>
            <a:r>
              <a:rPr lang="en-US" altLang="zh-CN"/>
              <a:t>ms</a:t>
            </a:r>
            <a:r>
              <a:rPr lang="zh-CN" altLang="en-US"/>
              <a:t>，从机接收到低电位后，进行</a:t>
            </a:r>
            <a:r>
              <a:rPr lang="zh-CN" altLang="en-US"/>
              <a:t>复位</a:t>
            </a:r>
            <a:endParaRPr lang="zh-CN" altLang="en-US"/>
          </a:p>
          <a:p>
            <a:pPr marL="0" lvl="1" indent="457200" fontAlgn="auto"/>
            <a:r>
              <a:rPr lang="en-US" altLang="zh-CN"/>
              <a:t>       c.</a:t>
            </a:r>
            <a:r>
              <a:rPr lang="zh-CN" altLang="en-US"/>
              <a:t>主机释放总线，总线拉高，保持</a:t>
            </a:r>
            <a:r>
              <a:rPr lang="en-US" altLang="zh-CN"/>
              <a:t>20</a:t>
            </a:r>
            <a:r>
              <a:rPr lang="en-US" altLang="zh-CN"/>
              <a:t>us~40</a:t>
            </a:r>
            <a:r>
              <a:rPr lang="en-US" altLang="zh-CN"/>
              <a:t>us</a:t>
            </a:r>
            <a:endParaRPr lang="en-US" altLang="zh-CN"/>
          </a:p>
          <a:p>
            <a:pPr marL="0" lvl="1" indent="457200" fontAlgn="auto"/>
            <a:r>
              <a:rPr lang="en-US" altLang="zh-CN"/>
              <a:t>       d.</a:t>
            </a:r>
            <a:r>
              <a:rPr lang="zh-CN" altLang="en-US"/>
              <a:t>从机接收到总线由高变低，会将总线拉低，保持</a:t>
            </a:r>
            <a:r>
              <a:rPr lang="en-US" altLang="zh-CN"/>
              <a:t>80us</a:t>
            </a:r>
            <a:r>
              <a:rPr lang="zh-CN" altLang="en-US"/>
              <a:t>，然后在拉高总线，持续</a:t>
            </a:r>
            <a:r>
              <a:rPr lang="en-US" altLang="zh-CN"/>
              <a:t>80</a:t>
            </a:r>
            <a:r>
              <a:rPr lang="en-US" altLang="zh-CN"/>
              <a:t>us</a:t>
            </a:r>
            <a:endParaRPr lang="en-US" altLang="zh-CN"/>
          </a:p>
          <a:p>
            <a:pPr marL="0" lvl="1" indent="457200" fontAlgn="auto"/>
            <a:r>
              <a:rPr lang="en-US" altLang="zh-CN"/>
              <a:t>       e.</a:t>
            </a:r>
            <a:r>
              <a:rPr lang="zh-CN" altLang="en-US"/>
              <a:t>主机在此过程中读取总线电平，当检测到总线出现低</a:t>
            </a:r>
            <a:r>
              <a:rPr lang="en-US" altLang="zh-CN"/>
              <a:t>-</a:t>
            </a:r>
            <a:r>
              <a:rPr lang="zh-CN" altLang="en-US"/>
              <a:t>高起伏，代表握手</a:t>
            </a:r>
            <a:r>
              <a:rPr lang="zh-CN" altLang="en-US"/>
              <a:t>成功</a:t>
            </a:r>
            <a:endParaRPr lang="zh-CN" altLang="en-US"/>
          </a:p>
          <a:p>
            <a:pPr marL="0" lvl="1" indent="457200" fontAlgn="auto"/>
            <a:r>
              <a:rPr lang="en-US" altLang="zh-CN"/>
              <a:t>        f.</a:t>
            </a:r>
            <a:r>
              <a:rPr lang="zh-CN" altLang="en-US"/>
              <a:t>连续发送</a:t>
            </a:r>
            <a:r>
              <a:rPr lang="en-US" altLang="zh-CN"/>
              <a:t>40</a:t>
            </a:r>
            <a:r>
              <a:rPr lang="zh-CN" altLang="en-US"/>
              <a:t>位数据，高位</a:t>
            </a:r>
            <a:r>
              <a:rPr lang="zh-CN" altLang="en-US"/>
              <a:t>先出（</a:t>
            </a:r>
            <a:r>
              <a:rPr lang="en-US" altLang="zh-CN"/>
              <a:t>DHT11 </a:t>
            </a:r>
            <a:r>
              <a:rPr lang="zh-CN" altLang="en-US"/>
              <a:t>用</a:t>
            </a:r>
            <a:r>
              <a:rPr lang="en-US" altLang="zh-CN"/>
              <a:t>“</a:t>
            </a:r>
            <a:r>
              <a:rPr lang="zh-CN" altLang="en-US"/>
              <a:t>高电平持续的时间长短</a:t>
            </a:r>
            <a:r>
              <a:rPr lang="en-US" altLang="zh-CN"/>
              <a:t>”</a:t>
            </a:r>
            <a:r>
              <a:rPr lang="zh-CN" altLang="en-US"/>
              <a:t>来决定数据是</a:t>
            </a:r>
            <a:r>
              <a:rPr lang="en-US" altLang="zh-CN"/>
              <a:t> 0 </a:t>
            </a:r>
            <a:r>
              <a:rPr lang="zh-CN" altLang="en-US"/>
              <a:t>还是</a:t>
            </a:r>
            <a:r>
              <a:rPr lang="en-US" altLang="zh-CN"/>
              <a:t> 1</a:t>
            </a:r>
            <a:r>
              <a:rPr lang="zh-CN" altLang="en-US"/>
              <a:t>）</a:t>
            </a:r>
            <a:endParaRPr lang="zh-CN" altLang="en-US"/>
          </a:p>
          <a:p>
            <a:pPr marL="0" lvl="1" indent="457200" fontAlgn="auto"/>
            <a:r>
              <a:rPr lang="zh-CN" altLang="en-US"/>
              <a:t>【再发送每一</a:t>
            </a:r>
            <a:r>
              <a:rPr lang="en-US" altLang="zh-CN"/>
              <a:t>bit</a:t>
            </a:r>
            <a:r>
              <a:rPr lang="zh-CN" altLang="en-US"/>
              <a:t>前，</a:t>
            </a:r>
            <a:r>
              <a:rPr lang="en-US" altLang="zh-CN"/>
              <a:t>DHT11</a:t>
            </a:r>
            <a:r>
              <a:rPr lang="zh-CN" altLang="en-US"/>
              <a:t>都会将总线拉低</a:t>
            </a:r>
            <a:r>
              <a:rPr lang="en-US" altLang="zh-CN"/>
              <a:t>50us</a:t>
            </a:r>
            <a:r>
              <a:rPr lang="zh-CN" altLang="en-US"/>
              <a:t>，表示</a:t>
            </a:r>
            <a:r>
              <a:rPr lang="en-US" altLang="zh-CN"/>
              <a:t>0</a:t>
            </a:r>
            <a:r>
              <a:rPr lang="zh-CN" altLang="en-US"/>
              <a:t>就拉高总线</a:t>
            </a:r>
            <a:r>
              <a:rPr lang="en-US" altLang="zh-CN"/>
              <a:t>26~28us</a:t>
            </a:r>
            <a:r>
              <a:rPr lang="zh-CN" altLang="en-US"/>
              <a:t>，表示</a:t>
            </a:r>
            <a:r>
              <a:rPr lang="en-US" altLang="zh-CN"/>
              <a:t>1</a:t>
            </a:r>
            <a:r>
              <a:rPr lang="zh-CN" altLang="en-US"/>
              <a:t>就拉高总线</a:t>
            </a:r>
            <a:r>
              <a:rPr lang="en-US" altLang="zh-CN"/>
              <a:t>70us</a:t>
            </a:r>
            <a:r>
              <a:rPr lang="zh-CN" altLang="en-US"/>
              <a:t>】</a:t>
            </a:r>
            <a:endParaRPr lang="zh-CN" altLang="en-US"/>
          </a:p>
          <a:p>
            <a:pPr marL="0" lvl="1" indent="457200" fontAlgn="auto"/>
            <a:r>
              <a:rPr lang="en-US" altLang="zh-CN"/>
              <a:t>        g.</a:t>
            </a:r>
            <a:r>
              <a:rPr lang="zh-CN" altLang="en-US"/>
              <a:t>单片机的读取方式为在检测到上升沿后死等</a:t>
            </a:r>
            <a:r>
              <a:rPr lang="en-US" altLang="zh-CN"/>
              <a:t>40us</a:t>
            </a:r>
            <a:r>
              <a:rPr lang="zh-CN" altLang="en-US"/>
              <a:t>，读取此时总线电平，低电平为</a:t>
            </a:r>
            <a:r>
              <a:rPr lang="en-US" altLang="zh-CN"/>
              <a:t>0</a:t>
            </a:r>
            <a:r>
              <a:rPr lang="zh-CN" altLang="en-US"/>
              <a:t>，高电平为</a:t>
            </a:r>
            <a:r>
              <a:rPr lang="en-US" altLang="zh-CN"/>
              <a:t>1</a:t>
            </a:r>
            <a:endParaRPr lang="en-US" altLang="zh-CN"/>
          </a:p>
          <a:p>
            <a:pPr marL="0" lvl="1" indent="457200" fontAlgn="auto"/>
            <a:r>
              <a:rPr lang="zh-CN" altLang="en-US"/>
              <a:t>【</a:t>
            </a:r>
            <a:r>
              <a:rPr lang="en-US" altLang="zh-CN"/>
              <a:t>8</a:t>
            </a:r>
            <a:r>
              <a:rPr lang="zh-CN" altLang="en-US"/>
              <a:t>位湿度整数</a:t>
            </a:r>
            <a:r>
              <a:rPr lang="en-US" altLang="zh-CN"/>
              <a:t> +8</a:t>
            </a:r>
            <a:r>
              <a:rPr lang="zh-CN" altLang="en-US"/>
              <a:t>位湿度小数</a:t>
            </a:r>
            <a:r>
              <a:rPr lang="en-US" altLang="zh-CN"/>
              <a:t> +8</a:t>
            </a:r>
            <a:r>
              <a:rPr lang="zh-CN" altLang="en-US"/>
              <a:t>位温度整数</a:t>
            </a:r>
            <a:r>
              <a:rPr lang="en-US" altLang="zh-CN"/>
              <a:t> +8</a:t>
            </a:r>
            <a:r>
              <a:rPr lang="zh-CN" altLang="en-US"/>
              <a:t>位温度小数</a:t>
            </a:r>
            <a:r>
              <a:rPr lang="en-US" altLang="zh-CN"/>
              <a:t>+ 8</a:t>
            </a:r>
            <a:r>
              <a:rPr lang="zh-CN" altLang="en-US"/>
              <a:t>位校验和】</a:t>
            </a:r>
            <a:r>
              <a:rPr lang="en-US" altLang="zh-CN"/>
              <a:t> </a:t>
            </a:r>
            <a:endParaRPr lang="en-US" altLang="zh-CN"/>
          </a:p>
          <a:p>
            <a:pPr marL="0" lvl="1" indent="457200" fontAlgn="auto"/>
            <a:r>
              <a:rPr lang="en-US" altLang="zh-CN"/>
              <a:t>        h.</a:t>
            </a:r>
            <a:r>
              <a:rPr lang="zh-CN" altLang="en-US"/>
              <a:t>单片机采集完</a:t>
            </a:r>
            <a:r>
              <a:rPr lang="en-US" altLang="zh-CN"/>
              <a:t>40bit</a:t>
            </a:r>
            <a:r>
              <a:rPr lang="zh-CN" altLang="en-US"/>
              <a:t>后，</a:t>
            </a:r>
            <a:r>
              <a:rPr lang="en-US" altLang="zh-CN"/>
              <a:t>DHT11</a:t>
            </a:r>
            <a:r>
              <a:rPr lang="zh-CN" altLang="en-US"/>
              <a:t>会释放总线，主机需要将</a:t>
            </a:r>
            <a:r>
              <a:rPr lang="en-US" altLang="zh-CN"/>
              <a:t>GPIO</a:t>
            </a:r>
            <a:r>
              <a:rPr lang="zh-CN" altLang="en-US"/>
              <a:t>口配置为输入模式，拉高总线</a:t>
            </a:r>
            <a:r>
              <a:rPr lang="zh-CN" altLang="en-US"/>
              <a:t>电平</a:t>
            </a:r>
            <a:endParaRPr lang="zh-CN" altLang="en-US"/>
          </a:p>
          <a:p>
            <a:pPr marL="0" lvl="1" indent="457200" fontAlgn="auto"/>
            <a:r>
              <a:rPr lang="en-US" altLang="zh-CN"/>
              <a:t>        j.DHT11</a:t>
            </a:r>
            <a:r>
              <a:rPr lang="zh-CN" altLang="en-US"/>
              <a:t>手册上描述两次调用起始信号的时间间隔不能小于</a:t>
            </a:r>
            <a:r>
              <a:rPr lang="en-US" altLang="zh-CN"/>
              <a:t>1s</a:t>
            </a:r>
            <a:r>
              <a:rPr lang="zh-CN" altLang="en-US"/>
              <a:t>，如频繁调用数据输出</a:t>
            </a:r>
            <a:r>
              <a:rPr lang="zh-CN" altLang="en-US"/>
              <a:t>会出错</a:t>
            </a:r>
            <a:endParaRPr lang="zh-CN" altLang="en-US"/>
          </a:p>
        </p:txBody>
      </p:sp>
      <p:pic>
        <p:nvPicPr>
          <p:cNvPr id="4" name="图片 3" descr="奖杯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DHT11</a:t>
            </a:r>
            <a:r>
              <a:rPr lang="zh-CN" altLang="en-US" b="1"/>
              <a:t>温湿度传感器：采用单总线通讯协议（面试可能</a:t>
            </a:r>
            <a:r>
              <a:rPr lang="zh-CN" altLang="en-US" b="1"/>
              <a:t>问题）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387350" y="829310"/>
            <a:ext cx="1129474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、问：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如果我在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秒的等待期内，突然想马上获取最新的温度，能直接去读吗？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DHT11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的硬件特性决定了它无法高频响应。如果强制读取，由于其内部的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ADC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转换和数据锁存还没完成，读出的要么是上一组陈旧的错误缓存，要么传感器直接死机不响应。如果系统需要高频采样，应该在选型时更换为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I2C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AHT20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SHT30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等高性能传感器。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、问：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你在等待这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秒期间，单片机在干什么？怎么保证不浪费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回答：我不会使用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delay_ms(2000)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这种阻塞式的死等。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在裸机开发中，我会利用定时器每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秒产生一次中断并设置标志位，主循环轮询标志位，其余时间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可以去处理按键扫描、屏幕刷新或执行其他业务逻辑；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FreeRTOS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本项目会将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DHT11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采集封装为一个独立任务，读取完一组数据后调用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vTaskDelay(2000)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，让出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使用权，使系统自动切换到其他低优先级任务，实现并发。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 descr="奖杯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BH1750</a:t>
            </a:r>
            <a:r>
              <a:rPr lang="zh-CN" altLang="en-US" b="1"/>
              <a:t>光照传感器：采用</a:t>
            </a:r>
            <a:r>
              <a:rPr lang="en-US" altLang="zh-CN" b="1"/>
              <a:t>I2C</a:t>
            </a:r>
            <a:r>
              <a:rPr lang="zh-CN" altLang="en-US" b="1"/>
              <a:t>通讯协议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211455" y="556260"/>
            <a:ext cx="1165479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I2C</a:t>
            </a:r>
            <a:r>
              <a:rPr lang="zh-CN" altLang="en-US"/>
              <a:t>是典型的主从架构，一种多主线总线，半双工同步串行</a:t>
            </a:r>
            <a:r>
              <a:rPr lang="zh-CN" altLang="en-US"/>
              <a:t>通信接口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、两根</a:t>
            </a:r>
            <a:r>
              <a:rPr lang="zh-CN" altLang="en-US"/>
              <a:t>信号线：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SCL</a:t>
            </a:r>
            <a:r>
              <a:rPr lang="zh-CN" altLang="en-US"/>
              <a:t>（串行时钟线）：同步数据传输的时钟</a:t>
            </a:r>
            <a:r>
              <a:rPr lang="zh-CN" altLang="en-US"/>
              <a:t>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SDA</a:t>
            </a:r>
            <a:r>
              <a:rPr lang="zh-CN" altLang="en-US"/>
              <a:t>（</a:t>
            </a:r>
            <a:r>
              <a:rPr lang="zh-CN" altLang="en-US"/>
              <a:t>串行数据线）：用于双向数据传输</a:t>
            </a:r>
            <a:endParaRPr lang="zh-CN" altLang="en-US"/>
          </a:p>
          <a:p>
            <a:pPr indent="0" fontAlgn="auto"/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I2C </a:t>
            </a:r>
            <a:r>
              <a:rPr lang="zh-CN" altLang="en-US"/>
              <a:t>总线上可挂接的设备数量受总线的最大电容</a:t>
            </a:r>
            <a:r>
              <a:rPr lang="en-US" altLang="zh-CN"/>
              <a:t>400pF</a:t>
            </a:r>
            <a:r>
              <a:rPr lang="zh-CN" altLang="en-US"/>
              <a:t>限制</a:t>
            </a:r>
            <a:endParaRPr lang="zh-CN" altLang="en-US"/>
          </a:p>
          <a:p>
            <a:pPr indent="0" fontAlgn="auto"/>
            <a:r>
              <a:rPr lang="en-US" altLang="zh-CN"/>
              <a:t>4</a:t>
            </a:r>
            <a:r>
              <a:rPr lang="zh-CN" altLang="en-US"/>
              <a:t>、串行的</a:t>
            </a:r>
            <a:r>
              <a:rPr lang="en-US" altLang="zh-CN"/>
              <a:t> 8 </a:t>
            </a:r>
            <a:r>
              <a:rPr lang="zh-CN" altLang="en-US"/>
              <a:t>位双向数据传输速率在标准模式下可达</a:t>
            </a:r>
            <a:r>
              <a:rPr lang="en-US" altLang="zh-CN"/>
              <a:t> 100Kbit/s</a:t>
            </a:r>
            <a:r>
              <a:rPr lang="zh-CN" altLang="en-US"/>
              <a:t>，快速模式下可达</a:t>
            </a:r>
            <a:r>
              <a:rPr lang="en-US" altLang="zh-CN"/>
              <a:t> 400Kbit/s</a:t>
            </a:r>
            <a:r>
              <a:rPr lang="zh-CN" altLang="en-US"/>
              <a:t>，高速模式下可达</a:t>
            </a:r>
            <a:r>
              <a:rPr lang="en-US" altLang="zh-CN"/>
              <a:t> 3.4Mbit/s</a:t>
            </a:r>
            <a:endParaRPr lang="en-US" altLang="zh-CN"/>
          </a:p>
          <a:p>
            <a:pPr indent="0" fontAlgn="auto"/>
            <a:r>
              <a:rPr lang="en-US" altLang="zh-CN"/>
              <a:t>5</a:t>
            </a:r>
            <a:r>
              <a:rPr lang="zh-CN" altLang="en-US"/>
              <a:t>、总线上可以挂多个从机（实际设计时不可超过</a:t>
            </a:r>
            <a:r>
              <a:rPr lang="en-US" altLang="zh-CN"/>
              <a:t>8</a:t>
            </a:r>
            <a:r>
              <a:rPr lang="zh-CN" altLang="en-US"/>
              <a:t>个器件，理论上可以挂载</a:t>
            </a:r>
            <a:r>
              <a:rPr lang="en-US" altLang="zh-CN"/>
              <a:t>127</a:t>
            </a:r>
            <a:r>
              <a:rPr lang="zh-CN" altLang="en-US"/>
              <a:t>个地址），从机的地址在出场就设定好，有唯一的</a:t>
            </a:r>
            <a:r>
              <a:rPr lang="zh-CN" altLang="en-US"/>
              <a:t>设备地址</a:t>
            </a:r>
            <a:endParaRPr lang="zh-CN" altLang="en-US"/>
          </a:p>
          <a:p>
            <a:pPr indent="0" fontAlgn="auto"/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zh-CN" altLang="en-US"/>
              <a:t>标志位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）起始位：当</a:t>
            </a:r>
            <a:r>
              <a:rPr lang="en-US" altLang="zh-CN"/>
              <a:t>SCL</a:t>
            </a:r>
            <a:r>
              <a:rPr lang="zh-CN" altLang="en-US"/>
              <a:t>为高电平，</a:t>
            </a:r>
            <a:r>
              <a:rPr lang="en-US" altLang="zh-CN"/>
              <a:t>SDA</a:t>
            </a:r>
            <a:r>
              <a:rPr lang="zh-CN" altLang="en-US"/>
              <a:t>出现下降沿</a:t>
            </a:r>
            <a:r>
              <a:rPr lang="zh-CN" altLang="en-US"/>
              <a:t>时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）停止位：当</a:t>
            </a:r>
            <a:r>
              <a:rPr lang="en-US" altLang="zh-CN"/>
              <a:t>SCL</a:t>
            </a:r>
            <a:r>
              <a:rPr lang="zh-CN" altLang="en-US"/>
              <a:t>为高电平，</a:t>
            </a:r>
            <a:r>
              <a:rPr lang="en-US" altLang="zh-CN"/>
              <a:t>SDA</a:t>
            </a:r>
            <a:r>
              <a:rPr lang="zh-CN" altLang="en-US"/>
              <a:t>出现上升沿</a:t>
            </a:r>
            <a:r>
              <a:rPr lang="zh-CN" altLang="en-US"/>
              <a:t>时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）数据传输：</a:t>
            </a:r>
            <a:r>
              <a:rPr lang="en-US" altLang="zh-CN"/>
              <a:t>SDA</a:t>
            </a:r>
            <a:r>
              <a:rPr lang="zh-CN" altLang="en-US"/>
              <a:t>的数据变换只能在</a:t>
            </a:r>
            <a:r>
              <a:rPr lang="en-US" altLang="zh-CN"/>
              <a:t>SCL</a:t>
            </a:r>
            <a:r>
              <a:rPr lang="zh-CN" altLang="en-US"/>
              <a:t>低电平时发生，在</a:t>
            </a:r>
            <a:r>
              <a:rPr lang="en-US" altLang="zh-CN"/>
              <a:t>SCL</a:t>
            </a:r>
            <a:r>
              <a:rPr lang="zh-CN" altLang="en-US"/>
              <a:t>高电平期间，需要保证</a:t>
            </a:r>
            <a:r>
              <a:rPr lang="en-US" altLang="zh-CN"/>
              <a:t>SDA</a:t>
            </a:r>
            <a:r>
              <a:rPr lang="zh-CN" altLang="en-US"/>
              <a:t>上的</a:t>
            </a:r>
            <a:r>
              <a:rPr lang="zh-CN" altLang="en-US"/>
              <a:t>数据稳定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）应答信号：主机发送完</a:t>
            </a:r>
            <a:r>
              <a:rPr lang="en-US" altLang="zh-CN"/>
              <a:t>8</a:t>
            </a:r>
            <a:r>
              <a:rPr lang="zh-CN" altLang="en-US"/>
              <a:t>位数据后，会将</a:t>
            </a:r>
            <a:r>
              <a:rPr lang="en-US" altLang="zh-CN"/>
              <a:t>SDA</a:t>
            </a:r>
            <a:r>
              <a:rPr lang="zh-CN" altLang="en-US"/>
              <a:t>设置为输入模式，等待</a:t>
            </a:r>
            <a:r>
              <a:rPr lang="zh-CN" altLang="en-US"/>
              <a:t>从机</a:t>
            </a:r>
            <a:endParaRPr lang="zh-CN" altLang="en-US"/>
          </a:p>
          <a:p>
            <a:pPr indent="457200" fontAlgn="auto"/>
            <a:r>
              <a:rPr lang="zh-CN" altLang="en-US"/>
              <a:t>应答，主机发送完数据后紧跟的那个时钟信号就是给应答信号使用的，从机</a:t>
            </a:r>
            <a:r>
              <a:rPr lang="zh-CN" altLang="en-US"/>
              <a:t>将</a:t>
            </a:r>
            <a:endParaRPr lang="zh-CN" altLang="en-US"/>
          </a:p>
          <a:p>
            <a:pPr indent="457200" fontAlgn="auto"/>
            <a:r>
              <a:rPr lang="en-US" altLang="zh-CN"/>
              <a:t>SDA</a:t>
            </a:r>
            <a:r>
              <a:rPr lang="zh-CN" altLang="en-US"/>
              <a:t>拉低表示发出应答</a:t>
            </a:r>
            <a:r>
              <a:rPr lang="zh-CN" altLang="en-US"/>
              <a:t>信号</a:t>
            </a:r>
            <a:endParaRPr lang="zh-CN" altLang="en-US"/>
          </a:p>
          <a:p>
            <a:pPr indent="0" fontAlgn="auto"/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en-US" altLang="zh-CN"/>
              <a:t>I2C</a:t>
            </a:r>
            <a:r>
              <a:rPr lang="zh-CN" altLang="en-US"/>
              <a:t>设备地址</a:t>
            </a:r>
            <a:r>
              <a:rPr lang="en-US" altLang="zh-CN"/>
              <a:t>8</a:t>
            </a:r>
            <a:r>
              <a:rPr lang="zh-CN" altLang="en-US"/>
              <a:t>位，最后一位不属于地址，在使用地址时整体右移一位</a:t>
            </a:r>
            <a:r>
              <a:rPr lang="zh-CN" altLang="en-US"/>
              <a:t>处理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7951470" y="54610"/>
            <a:ext cx="4121785" cy="189039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806700"/>
            <a:ext cx="1516380" cy="72263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7780655" y="3110230"/>
            <a:ext cx="1433195" cy="76835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8921115" y="4180840"/>
            <a:ext cx="2982595" cy="864235"/>
          </a:xfrm>
          <a:prstGeom prst="rect">
            <a:avLst/>
          </a:prstGeom>
        </p:spPr>
      </p:pic>
      <p:pic>
        <p:nvPicPr>
          <p:cNvPr id="9" name="图片 8" descr="新能源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BH1750</a:t>
            </a:r>
            <a:r>
              <a:rPr lang="zh-CN" altLang="en-US" b="1"/>
              <a:t>光照传感器：采用</a:t>
            </a:r>
            <a:r>
              <a:rPr lang="en-US" altLang="zh-CN" b="1"/>
              <a:t>I2C</a:t>
            </a:r>
            <a:r>
              <a:rPr lang="zh-CN" altLang="en-US" b="1"/>
              <a:t>通讯协议</a:t>
            </a:r>
            <a:endParaRPr lang="zh-CN" altLang="en-US" b="1"/>
          </a:p>
        </p:txBody>
      </p:sp>
      <p:pic>
        <p:nvPicPr>
          <p:cNvPr id="9" name="图片 8" descr="新能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1402715" y="625475"/>
            <a:ext cx="8811260" cy="196024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7960" y="2639060"/>
            <a:ext cx="114655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</a:t>
            </a:r>
            <a:r>
              <a:rPr lang="zh-CN" altLang="en-US"/>
              <a:t>、</a:t>
            </a:r>
            <a:r>
              <a:rPr lang="en-US" altLang="zh-CN"/>
              <a:t>I2C</a:t>
            </a:r>
            <a:r>
              <a:rPr lang="zh-CN" altLang="en-US"/>
              <a:t>时序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）起始信号：当</a:t>
            </a:r>
            <a:r>
              <a:rPr lang="en-US" altLang="zh-CN"/>
              <a:t> SCL </a:t>
            </a:r>
            <a:r>
              <a:rPr lang="zh-CN" altLang="en-US"/>
              <a:t>为高电平期间，</a:t>
            </a:r>
            <a:r>
              <a:rPr lang="en-US" altLang="zh-CN"/>
              <a:t>SDA </a:t>
            </a:r>
            <a:r>
              <a:rPr lang="zh-CN" altLang="en-US"/>
              <a:t>由高到低的跳变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）数据有效性：</a:t>
            </a:r>
            <a:r>
              <a:rPr lang="en-US" altLang="zh-CN"/>
              <a:t>IIC </a:t>
            </a:r>
            <a:r>
              <a:rPr lang="zh-CN" altLang="en-US"/>
              <a:t>总线进行数据传送时，时钟信号为高电平期间，数据线上的数据必须保持稳定，只有</a:t>
            </a:r>
            <a:r>
              <a:rPr lang="en-US" altLang="zh-CN"/>
              <a:t>	</a:t>
            </a:r>
            <a:r>
              <a:rPr lang="zh-CN" altLang="en-US"/>
              <a:t>在时钟线上的信号为低电平期间，数据线上的高电平或低电平状态才允许变化。数据在</a:t>
            </a:r>
            <a:r>
              <a:rPr lang="en-US" altLang="zh-CN"/>
              <a:t> SCL </a:t>
            </a:r>
            <a:r>
              <a:rPr lang="zh-CN" altLang="en-US"/>
              <a:t>的上升沿</a:t>
            </a:r>
            <a:r>
              <a:rPr lang="en-US" altLang="zh-CN"/>
              <a:t>	</a:t>
            </a:r>
            <a:r>
              <a:rPr lang="zh-CN" altLang="en-US"/>
              <a:t>到来之前就需准备好。并在下降沿到来之前必须稳定（简而言之就是在发送数据之前先进行</a:t>
            </a:r>
            <a:r>
              <a:rPr lang="zh-CN" altLang="en-US"/>
              <a:t>初始化）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）数据传输：</a:t>
            </a:r>
            <a:r>
              <a:rPr lang="en-US" altLang="zh-CN">
                <a:sym typeface="+mn-ea"/>
              </a:rPr>
              <a:t>SCL</a:t>
            </a:r>
            <a:r>
              <a:rPr lang="zh-CN" altLang="en-US">
                <a:sym typeface="+mn-ea"/>
              </a:rPr>
              <a:t>低电平，</a:t>
            </a:r>
            <a:r>
              <a:rPr lang="en-US" altLang="zh-CN">
                <a:sym typeface="+mn-ea"/>
              </a:rPr>
              <a:t>SDA</a:t>
            </a:r>
            <a:r>
              <a:rPr lang="zh-CN" altLang="en-US">
                <a:sym typeface="+mn-ea"/>
              </a:rPr>
              <a:t>的数据变换；</a:t>
            </a:r>
            <a:r>
              <a:rPr lang="en-US" altLang="zh-CN">
                <a:sym typeface="+mn-ea"/>
              </a:rPr>
              <a:t>SCL</a:t>
            </a:r>
            <a:r>
              <a:rPr lang="zh-CN" altLang="en-US">
                <a:sym typeface="+mn-ea"/>
              </a:rPr>
              <a:t>高电平，</a:t>
            </a:r>
            <a:r>
              <a:rPr lang="en-US" altLang="zh-CN">
                <a:sym typeface="+mn-ea"/>
              </a:rPr>
              <a:t>SDA</a:t>
            </a:r>
            <a:r>
              <a:rPr lang="zh-CN" altLang="en-US">
                <a:sym typeface="+mn-ea"/>
              </a:rPr>
              <a:t>数据稳定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）应答信号：应答信号为低电平时，接收器已经成功地接收了该字节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）停止信号：当</a:t>
            </a:r>
            <a:r>
              <a:rPr lang="en-US" altLang="zh-CN"/>
              <a:t> SCL </a:t>
            </a:r>
            <a:r>
              <a:rPr lang="zh-CN" altLang="en-US"/>
              <a:t>为高电平期间，</a:t>
            </a:r>
            <a:r>
              <a:rPr lang="en-US" altLang="zh-CN"/>
              <a:t>SDA </a:t>
            </a:r>
            <a:r>
              <a:rPr lang="zh-CN" altLang="en-US"/>
              <a:t>由低到高的跳变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）空闲状态：</a:t>
            </a:r>
            <a:r>
              <a:rPr lang="en-US" altLang="zh-CN"/>
              <a:t>IIC </a:t>
            </a:r>
            <a:r>
              <a:rPr lang="zh-CN" altLang="en-US"/>
              <a:t>总线的</a:t>
            </a:r>
            <a:r>
              <a:rPr lang="en-US" altLang="zh-CN"/>
              <a:t> SDA </a:t>
            </a:r>
            <a:r>
              <a:rPr lang="zh-CN" altLang="en-US"/>
              <a:t>和</a:t>
            </a:r>
            <a:r>
              <a:rPr lang="en-US" altLang="zh-CN"/>
              <a:t> SCL </a:t>
            </a:r>
            <a:r>
              <a:rPr lang="zh-CN" altLang="en-US"/>
              <a:t>两条信号线同时处于高电平时，规定为总线的空闲状态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BH1750</a:t>
            </a:r>
            <a:r>
              <a:rPr lang="zh-CN" altLang="en-US" b="1"/>
              <a:t>光照传感器：采用</a:t>
            </a:r>
            <a:r>
              <a:rPr lang="en-US" altLang="zh-CN" b="1"/>
              <a:t>I2C</a:t>
            </a:r>
            <a:r>
              <a:rPr lang="zh-CN" altLang="en-US" b="1"/>
              <a:t>通讯协议</a:t>
            </a:r>
            <a:endParaRPr lang="zh-CN" altLang="en-US" b="1"/>
          </a:p>
        </p:txBody>
      </p:sp>
      <p:pic>
        <p:nvPicPr>
          <p:cNvPr id="9" name="图片 8" descr="新能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7960" y="1800225"/>
            <a:ext cx="1146556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</a:t>
            </a:r>
            <a:r>
              <a:rPr lang="zh-CN" altLang="en-US"/>
              <a:t>、</a:t>
            </a:r>
            <a:r>
              <a:rPr lang="en-US" altLang="zh-CN"/>
              <a:t>I2C</a:t>
            </a:r>
            <a:r>
              <a:rPr lang="zh-CN" altLang="en-US"/>
              <a:t>写时序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/>
              <a:t>开始信号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）发送</a:t>
            </a:r>
            <a:r>
              <a:rPr lang="en-US" altLang="zh-CN"/>
              <a:t> I2C </a:t>
            </a:r>
            <a:r>
              <a:rPr lang="zh-CN" altLang="en-US"/>
              <a:t>设备地址，每个</a:t>
            </a:r>
            <a:r>
              <a:rPr lang="en-US" altLang="zh-CN"/>
              <a:t> I2C </a:t>
            </a:r>
            <a:r>
              <a:rPr lang="zh-CN" altLang="en-US"/>
              <a:t>器件都有一个设备地址，通过发送具体的设备地址来决定访问哪个</a:t>
            </a:r>
            <a:r>
              <a:rPr lang="en-US" altLang="zh-CN"/>
              <a:t> I2C 	</a:t>
            </a:r>
            <a:r>
              <a:rPr lang="zh-CN" altLang="en-US"/>
              <a:t>器件。这是一个</a:t>
            </a:r>
            <a:r>
              <a:rPr lang="en-US" altLang="zh-CN"/>
              <a:t> 8 </a:t>
            </a:r>
            <a:r>
              <a:rPr lang="zh-CN" altLang="en-US"/>
              <a:t>位的数据，其中高</a:t>
            </a:r>
            <a:r>
              <a:rPr lang="en-US" altLang="zh-CN"/>
              <a:t> 7 </a:t>
            </a:r>
            <a:r>
              <a:rPr lang="zh-CN" altLang="en-US"/>
              <a:t>位是设备地址，最后</a:t>
            </a:r>
            <a:r>
              <a:rPr lang="en-US" altLang="zh-CN"/>
              <a:t> 1 </a:t>
            </a:r>
            <a:r>
              <a:rPr lang="zh-CN" altLang="en-US"/>
              <a:t>位是读写位（</a:t>
            </a:r>
            <a:r>
              <a:rPr lang="en-US" altLang="zh-CN"/>
              <a:t>1</a:t>
            </a:r>
            <a:r>
              <a:rPr lang="zh-CN" altLang="en-US"/>
              <a:t>为读操作，</a:t>
            </a:r>
            <a:r>
              <a:rPr lang="en-US" altLang="zh-CN"/>
              <a:t>0</a:t>
            </a:r>
            <a:r>
              <a:rPr lang="zh-CN" altLang="en-US"/>
              <a:t>为写操作），</a:t>
            </a:r>
            <a:r>
              <a:rPr lang="en-US" altLang="zh-CN"/>
              <a:t>	</a:t>
            </a:r>
            <a:r>
              <a:rPr lang="zh-CN" altLang="en-US"/>
              <a:t>因为现在是写操作，故最后一位是</a:t>
            </a:r>
            <a:r>
              <a:rPr lang="en-US" altLang="zh-CN"/>
              <a:t>0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/>
              <a:t>等待从机发送的</a:t>
            </a:r>
            <a:r>
              <a:rPr lang="en-US" altLang="zh-CN"/>
              <a:t> ACK </a:t>
            </a:r>
            <a:r>
              <a:rPr lang="zh-CN" altLang="en-US"/>
              <a:t>应答信号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）重新发送开始信号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）发送要写入数据的寄存器地址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）从机发送的</a:t>
            </a:r>
            <a:r>
              <a:rPr lang="en-US" altLang="zh-CN"/>
              <a:t> ACK </a:t>
            </a:r>
            <a:r>
              <a:rPr lang="zh-CN" altLang="en-US"/>
              <a:t>应答信号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）发送要写入寄存器的数据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8</a:t>
            </a:r>
            <a:r>
              <a:rPr lang="zh-CN" altLang="en-US"/>
              <a:t>）从机发送的</a:t>
            </a:r>
            <a:r>
              <a:rPr lang="en-US" altLang="zh-CN"/>
              <a:t> ACK </a:t>
            </a:r>
            <a:r>
              <a:rPr lang="zh-CN" altLang="en-US"/>
              <a:t>应答信号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9</a:t>
            </a:r>
            <a:r>
              <a:rPr lang="zh-CN" altLang="en-US"/>
              <a:t>）停止信号</a:t>
            </a:r>
            <a:endParaRPr lang="zh-CN" altLang="en-US"/>
          </a:p>
        </p:txBody>
      </p:sp>
      <p:pic>
        <p:nvPicPr>
          <p:cNvPr id="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2134870" y="574040"/>
            <a:ext cx="7311390" cy="1181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BH1750</a:t>
            </a:r>
            <a:r>
              <a:rPr lang="zh-CN" altLang="en-US" b="1"/>
              <a:t>光照传感器：采用</a:t>
            </a:r>
            <a:r>
              <a:rPr lang="en-US" altLang="zh-CN" b="1"/>
              <a:t>I2C</a:t>
            </a:r>
            <a:r>
              <a:rPr lang="zh-CN" altLang="en-US" b="1"/>
              <a:t>通讯协议</a:t>
            </a:r>
            <a:endParaRPr lang="zh-CN" altLang="en-US" b="1"/>
          </a:p>
        </p:txBody>
      </p:sp>
      <p:pic>
        <p:nvPicPr>
          <p:cNvPr id="9" name="图片 8" descr="新能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7960" y="1800225"/>
            <a:ext cx="1146556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</a:t>
            </a:r>
            <a:r>
              <a:rPr lang="zh-CN" altLang="en-US"/>
              <a:t>、</a:t>
            </a:r>
            <a:r>
              <a:rPr lang="en-US" altLang="zh-CN"/>
              <a:t>I2C</a:t>
            </a:r>
            <a:r>
              <a:rPr lang="zh-CN" altLang="en-US"/>
              <a:t>读时序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）主机发送起始信号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）主机发送要读取的</a:t>
            </a:r>
            <a:r>
              <a:rPr lang="en-US" altLang="zh-CN"/>
              <a:t> I2C </a:t>
            </a:r>
            <a:r>
              <a:rPr lang="zh-CN" altLang="en-US"/>
              <a:t>从设备地址</a:t>
            </a:r>
            <a:r>
              <a:rPr lang="en-US" altLang="zh-CN"/>
              <a:t>,</a:t>
            </a:r>
            <a:r>
              <a:rPr lang="zh-CN" altLang="en-US"/>
              <a:t>读写控制位，因为是向</a:t>
            </a:r>
            <a:r>
              <a:rPr lang="en-US" altLang="zh-CN"/>
              <a:t> I2C </a:t>
            </a:r>
            <a:r>
              <a:rPr lang="zh-CN" altLang="en-US"/>
              <a:t>从设备发送数据，因此是写信号</a:t>
            </a:r>
            <a:r>
              <a:rPr lang="en-US" altLang="zh-CN"/>
              <a:t> 0</a:t>
            </a:r>
            <a:endParaRPr lang="en-US" altLang="zh-CN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/>
              <a:t>等待从机发送的</a:t>
            </a:r>
            <a:r>
              <a:rPr lang="en-US" altLang="zh-CN"/>
              <a:t> ACK </a:t>
            </a:r>
            <a:r>
              <a:rPr lang="zh-CN" altLang="en-US"/>
              <a:t>应答信号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）重新发送开始信号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）主机发送要读取的寄存器地址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等待从机发送的</a:t>
            </a:r>
            <a:r>
              <a:rPr lang="en-US" altLang="zh-CN">
                <a:sym typeface="+mn-ea"/>
              </a:rPr>
              <a:t> ACK </a:t>
            </a:r>
            <a:r>
              <a:rPr lang="zh-CN" altLang="en-US">
                <a:sym typeface="+mn-ea"/>
              </a:rPr>
              <a:t>应答信号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重新发送开始信号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8</a:t>
            </a:r>
            <a:r>
              <a:rPr lang="zh-CN" altLang="en-US"/>
              <a:t>）重新发送要读取的</a:t>
            </a:r>
            <a:r>
              <a:rPr lang="en-US" altLang="zh-CN"/>
              <a:t> I2C </a:t>
            </a:r>
            <a:r>
              <a:rPr lang="zh-CN" altLang="en-US"/>
              <a:t>从设备地址</a:t>
            </a:r>
            <a:r>
              <a:rPr lang="en-US" altLang="zh-CN"/>
              <a:t>,</a:t>
            </a:r>
            <a:r>
              <a:rPr lang="zh-CN" altLang="en-US"/>
              <a:t>读写控制位写</a:t>
            </a:r>
            <a:r>
              <a:rPr lang="en-US" altLang="zh-CN"/>
              <a:t>1</a:t>
            </a:r>
            <a:r>
              <a:rPr lang="zh-CN" altLang="en-US"/>
              <a:t>，表示接下来是从</a:t>
            </a:r>
            <a:r>
              <a:rPr lang="en-US" altLang="zh-CN"/>
              <a:t> I2C </a:t>
            </a:r>
            <a:r>
              <a:rPr lang="zh-CN" altLang="en-US"/>
              <a:t>从设备里面读取数据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9</a:t>
            </a:r>
            <a:r>
              <a:rPr lang="zh-CN" altLang="en-US"/>
              <a:t>）从机发送的</a:t>
            </a:r>
            <a:r>
              <a:rPr lang="en-US" altLang="zh-CN"/>
              <a:t> ACK </a:t>
            </a:r>
            <a:r>
              <a:rPr lang="zh-CN" altLang="en-US"/>
              <a:t>应答信号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10</a:t>
            </a:r>
            <a:r>
              <a:rPr lang="zh-CN" altLang="en-US"/>
              <a:t>）从</a:t>
            </a:r>
            <a:r>
              <a:rPr lang="en-US" altLang="zh-CN"/>
              <a:t> I2C </a:t>
            </a:r>
            <a:r>
              <a:rPr lang="zh-CN" altLang="en-US"/>
              <a:t>器件里面读取到的数据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11</a:t>
            </a:r>
            <a:r>
              <a:rPr lang="zh-CN" altLang="en-US"/>
              <a:t>）主机发出</a:t>
            </a:r>
            <a:r>
              <a:rPr lang="en-US" altLang="zh-CN"/>
              <a:t> NACK </a:t>
            </a:r>
            <a:r>
              <a:rPr lang="zh-CN" altLang="en-US"/>
              <a:t>信号，表示读取完成，不需要从机再发送</a:t>
            </a:r>
            <a:r>
              <a:rPr lang="en-US" altLang="zh-CN"/>
              <a:t> ACK </a:t>
            </a:r>
            <a:r>
              <a:rPr lang="zh-CN" altLang="en-US"/>
              <a:t>信号了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12</a:t>
            </a:r>
            <a:r>
              <a:rPr lang="zh-CN" altLang="en-US"/>
              <a:t>）主机发出</a:t>
            </a:r>
            <a:r>
              <a:rPr lang="en-US" altLang="zh-CN"/>
              <a:t> STOP </a:t>
            </a:r>
            <a:r>
              <a:rPr lang="zh-CN" altLang="en-US"/>
              <a:t>信号，停止</a:t>
            </a:r>
            <a:r>
              <a:rPr lang="en-US" altLang="zh-CN"/>
              <a:t> I2C </a:t>
            </a:r>
            <a:r>
              <a:rPr lang="zh-CN" altLang="en-US"/>
              <a:t>通信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2406650" y="660400"/>
            <a:ext cx="7441565" cy="10090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BH1750</a:t>
            </a:r>
            <a:r>
              <a:rPr lang="zh-CN" altLang="en-US" b="1"/>
              <a:t>光照传感器：采用</a:t>
            </a:r>
            <a:r>
              <a:rPr lang="en-US" altLang="zh-CN" b="1"/>
              <a:t>I2C</a:t>
            </a:r>
            <a:r>
              <a:rPr lang="zh-CN" altLang="en-US" b="1"/>
              <a:t>通讯协议</a:t>
            </a:r>
            <a:endParaRPr lang="zh-CN" altLang="en-US" b="1"/>
          </a:p>
        </p:txBody>
      </p:sp>
      <p:pic>
        <p:nvPicPr>
          <p:cNvPr id="9" name="图片 8" descr="新能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7960" y="591820"/>
            <a:ext cx="1146556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11</a:t>
            </a:r>
            <a:r>
              <a:rPr lang="zh-CN" altLang="en-US"/>
              <a:t>、多字节写入</a:t>
            </a:r>
            <a:r>
              <a:rPr lang="en-US" altLang="zh-CN"/>
              <a:t>/</a:t>
            </a:r>
            <a:r>
              <a:rPr lang="zh-CN" altLang="en-US"/>
              <a:t>读取</a:t>
            </a:r>
            <a:endParaRPr lang="zh-CN" altLang="en-US"/>
          </a:p>
          <a:p>
            <a:r>
              <a:rPr lang="en-US" altLang="zh-CN"/>
              <a:t>12</a:t>
            </a:r>
            <a:r>
              <a:rPr lang="zh-CN" altLang="en-US"/>
              <a:t>、</a:t>
            </a:r>
            <a:r>
              <a:rPr lang="en-US" altLang="zh-CN"/>
              <a:t>I2C</a:t>
            </a:r>
            <a:r>
              <a:rPr lang="zh-CN" altLang="en-US"/>
              <a:t>时钟同步：由于</a:t>
            </a:r>
            <a:r>
              <a:rPr lang="en-US" altLang="zh-CN"/>
              <a:t>I2C</a:t>
            </a:r>
            <a:r>
              <a:rPr lang="zh-CN" altLang="en-US"/>
              <a:t>支持多主机模式，故在</a:t>
            </a:r>
            <a:r>
              <a:rPr lang="en-US" altLang="zh-CN"/>
              <a:t> I2C </a:t>
            </a:r>
            <a:r>
              <a:rPr lang="zh-CN" altLang="en-US"/>
              <a:t>总线上传送</a:t>
            </a:r>
            <a:endParaRPr lang="zh-CN" altLang="en-US"/>
          </a:p>
          <a:p>
            <a:r>
              <a:rPr lang="zh-CN" altLang="en-US"/>
              <a:t>信息时的时钟同步信号是由挂接在</a:t>
            </a:r>
            <a:r>
              <a:rPr lang="en-US" altLang="zh-CN"/>
              <a:t> SCL </a:t>
            </a:r>
            <a:r>
              <a:rPr lang="zh-CN" altLang="en-US"/>
              <a:t>线上的所有器件的</a:t>
            </a:r>
            <a:r>
              <a:rPr lang="en-US" altLang="zh-CN"/>
              <a:t> </a:t>
            </a:r>
            <a:r>
              <a:rPr lang="zh-CN" altLang="en-US"/>
              <a:t>逻辑</a:t>
            </a:r>
            <a:r>
              <a:rPr lang="en-US" altLang="zh-CN"/>
              <a:t>“</a:t>
            </a:r>
            <a:r>
              <a:rPr lang="zh-CN" altLang="en-US"/>
              <a:t>与</a:t>
            </a:r>
            <a:r>
              <a:rPr lang="en-US" altLang="zh-CN"/>
              <a:t>”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/>
              <a:t>完成的。即如果有多个主机同时产生时钟，</a:t>
            </a:r>
            <a:r>
              <a:rPr lang="zh-CN" altLang="en-US">
                <a:highlight>
                  <a:srgbClr val="FFFF00"/>
                </a:highlight>
              </a:rPr>
              <a:t>那么只有所有主机都发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>
                <a:highlight>
                  <a:srgbClr val="FFFF00"/>
                </a:highlight>
              </a:rPr>
              <a:t>送高电平时，</a:t>
            </a:r>
            <a:r>
              <a:rPr lang="en-US" altLang="zh-CN">
                <a:highlight>
                  <a:srgbClr val="FFFF00"/>
                </a:highlight>
              </a:rPr>
              <a:t>SCL </a:t>
            </a:r>
            <a:r>
              <a:rPr lang="zh-CN" altLang="en-US">
                <a:highlight>
                  <a:srgbClr val="FFFF00"/>
                </a:highlight>
              </a:rPr>
              <a:t>上才表现为高电平，否则</a:t>
            </a:r>
            <a:r>
              <a:rPr lang="en-US" altLang="zh-CN">
                <a:highlight>
                  <a:srgbClr val="FFFF00"/>
                </a:highlight>
              </a:rPr>
              <a:t> SCL </a:t>
            </a:r>
            <a:r>
              <a:rPr lang="zh-CN" altLang="en-US">
                <a:highlight>
                  <a:srgbClr val="FFFF00"/>
                </a:highlight>
              </a:rPr>
              <a:t>都表现为低电平，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 u="sng">
                <a:solidFill>
                  <a:srgbClr val="FF0000"/>
                </a:solidFill>
              </a:rPr>
              <a:t>可见，时钟低电平时间由时钟低电平期最长的器件确定，而时钟高</a:t>
            </a:r>
            <a:endParaRPr lang="zh-CN" altLang="en-US" u="sng">
              <a:solidFill>
                <a:srgbClr val="FF0000"/>
              </a:solidFill>
            </a:endParaRPr>
          </a:p>
          <a:p>
            <a:r>
              <a:rPr lang="zh-CN" altLang="en-US" u="sng">
                <a:solidFill>
                  <a:srgbClr val="FF0000"/>
                </a:solidFill>
              </a:rPr>
              <a:t>电平时间由时钟高电平期最短的器件确定</a:t>
            </a:r>
            <a:endParaRPr lang="zh-CN" altLang="en-US" u="sng">
              <a:solidFill>
                <a:srgbClr val="FF0000"/>
              </a:solidFill>
            </a:endParaRPr>
          </a:p>
          <a:p>
            <a:pPr indent="0" fontAlgn="auto"/>
            <a:r>
              <a:rPr lang="en-US" altLang="zh-CN"/>
              <a:t>13</a:t>
            </a:r>
            <a:r>
              <a:rPr lang="zh-CN" altLang="en-US"/>
              <a:t>、时钟仲裁：当所有主机在</a:t>
            </a:r>
            <a:r>
              <a:rPr lang="en-US" altLang="zh-CN"/>
              <a:t> SDA </a:t>
            </a:r>
            <a:r>
              <a:rPr lang="zh-CN" altLang="en-US"/>
              <a:t>上都写</a:t>
            </a:r>
            <a:r>
              <a:rPr lang="en-US" altLang="zh-CN"/>
              <a:t> 1 </a:t>
            </a:r>
            <a:r>
              <a:rPr lang="zh-CN" altLang="en-US"/>
              <a:t>时，</a:t>
            </a:r>
            <a:r>
              <a:rPr lang="en-US" altLang="zh-CN"/>
              <a:t>SDA </a:t>
            </a:r>
            <a:r>
              <a:rPr lang="zh-CN" altLang="en-US"/>
              <a:t>的数据才是</a:t>
            </a:r>
            <a:r>
              <a:rPr lang="en-US" altLang="zh-CN"/>
              <a:t> 1</a:t>
            </a:r>
            <a:endParaRPr lang="en-US" altLang="zh-CN"/>
          </a:p>
          <a:p>
            <a:pPr indent="0" fontAlgn="auto"/>
            <a:r>
              <a:rPr lang="zh-CN" altLang="en-US"/>
              <a:t>只要有一个主机写</a:t>
            </a:r>
            <a:r>
              <a:rPr lang="en-US" altLang="zh-CN"/>
              <a:t> 0</a:t>
            </a:r>
            <a:r>
              <a:rPr lang="zh-CN" altLang="en-US"/>
              <a:t>，那此时</a:t>
            </a:r>
            <a:r>
              <a:rPr lang="en-US" altLang="zh-CN"/>
              <a:t> SDA </a:t>
            </a:r>
            <a:r>
              <a:rPr lang="zh-CN" altLang="en-US"/>
              <a:t>上的数据就是</a:t>
            </a:r>
            <a:r>
              <a:rPr lang="en-US" altLang="zh-CN"/>
              <a:t> 0</a:t>
            </a:r>
            <a:r>
              <a:rPr lang="zh-CN" altLang="en-US"/>
              <a:t>。一个主机每发</a:t>
            </a:r>
            <a:endParaRPr lang="zh-CN" altLang="en-US"/>
          </a:p>
          <a:p>
            <a:pPr indent="0" fontAlgn="auto"/>
            <a:r>
              <a:rPr lang="zh-CN" altLang="en-US"/>
              <a:t>送一个</a:t>
            </a:r>
            <a:r>
              <a:rPr lang="en-US" altLang="zh-CN"/>
              <a:t> bit </a:t>
            </a:r>
            <a:r>
              <a:rPr lang="zh-CN" altLang="en-US"/>
              <a:t>数据，在</a:t>
            </a:r>
            <a:r>
              <a:rPr lang="en-US" altLang="zh-CN"/>
              <a:t> SCL </a:t>
            </a:r>
            <a:r>
              <a:rPr lang="zh-CN" altLang="en-US"/>
              <a:t>为高电平时，就检查</a:t>
            </a:r>
            <a:r>
              <a:rPr lang="en-US" altLang="zh-CN"/>
              <a:t> SDA </a:t>
            </a:r>
            <a:r>
              <a:rPr lang="zh-CN" altLang="en-US"/>
              <a:t>的电平是否和发</a:t>
            </a:r>
            <a:endParaRPr lang="zh-CN" altLang="en-US"/>
          </a:p>
          <a:p>
            <a:pPr indent="0" fontAlgn="auto"/>
            <a:r>
              <a:rPr lang="zh-CN" altLang="en-US"/>
              <a:t>送的数据一致，如果不一致，这个主机便知道自己输掉了仲裁，然</a:t>
            </a:r>
            <a:endParaRPr lang="zh-CN" altLang="en-US"/>
          </a:p>
          <a:p>
            <a:pPr indent="0" fontAlgn="auto"/>
            <a:r>
              <a:rPr lang="zh-CN" altLang="en-US"/>
              <a:t>后停止向</a:t>
            </a:r>
            <a:r>
              <a:rPr lang="en-US" altLang="zh-CN"/>
              <a:t> SDA </a:t>
            </a:r>
            <a:r>
              <a:rPr lang="zh-CN" altLang="en-US"/>
              <a:t>写数据，就不在产生时钟脉冲</a:t>
            </a:r>
            <a:r>
              <a:rPr lang="zh-CN" altLang="en-US"/>
              <a:t>了。</a:t>
            </a:r>
            <a:endParaRPr lang="zh-CN" altLang="en-US"/>
          </a:p>
          <a:p>
            <a:pPr indent="0" fontAlgn="auto"/>
            <a:r>
              <a:rPr lang="en-US" altLang="zh-CN"/>
              <a:t>14</a:t>
            </a:r>
            <a:r>
              <a:rPr lang="zh-CN" altLang="en-US"/>
              <a:t>、</a:t>
            </a:r>
            <a:r>
              <a:rPr lang="en-US" altLang="zh-CN" u="sng">
                <a:solidFill>
                  <a:srgbClr val="FF0000"/>
                </a:solidFill>
              </a:rPr>
              <a:t>STM32</a:t>
            </a:r>
            <a:r>
              <a:rPr lang="zh-CN" altLang="en-US" u="sng">
                <a:solidFill>
                  <a:srgbClr val="FF0000"/>
                </a:solidFill>
              </a:rPr>
              <a:t>设备的</a:t>
            </a:r>
            <a:r>
              <a:rPr lang="en-US" altLang="zh-CN" u="sng">
                <a:solidFill>
                  <a:srgbClr val="FF0000"/>
                </a:solidFill>
              </a:rPr>
              <a:t>SCL</a:t>
            </a:r>
            <a:r>
              <a:rPr lang="zh-CN" altLang="en-US" u="sng">
                <a:solidFill>
                  <a:srgbClr val="FF0000"/>
                </a:solidFill>
              </a:rPr>
              <a:t>和</a:t>
            </a:r>
            <a:r>
              <a:rPr lang="en-US" altLang="zh-CN" u="sng">
                <a:solidFill>
                  <a:srgbClr val="FF0000"/>
                </a:solidFill>
              </a:rPr>
              <a:t>SDA</a:t>
            </a:r>
            <a:r>
              <a:rPr lang="zh-CN" altLang="en-US" u="sng">
                <a:solidFill>
                  <a:srgbClr val="FF0000"/>
                </a:solidFill>
              </a:rPr>
              <a:t>均要配置成开漏输出模式，还需添加</a:t>
            </a:r>
            <a:r>
              <a:rPr lang="zh-CN" altLang="en-US" u="sng">
                <a:solidFill>
                  <a:srgbClr val="FF0000"/>
                </a:solidFill>
              </a:rPr>
              <a:t>上拉电阻</a:t>
            </a:r>
            <a:endParaRPr lang="zh-CN" altLang="en-US" u="sng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7150100" y="68580"/>
            <a:ext cx="4972685" cy="3536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BH1750</a:t>
            </a:r>
            <a:r>
              <a:rPr lang="zh-CN" altLang="en-US" b="1"/>
              <a:t>光照传感器：采用</a:t>
            </a:r>
            <a:r>
              <a:rPr lang="en-US" altLang="zh-CN" b="1"/>
              <a:t>I2C</a:t>
            </a:r>
            <a:r>
              <a:rPr lang="zh-CN" altLang="en-US" b="1"/>
              <a:t>通讯协议（面试可能</a:t>
            </a:r>
            <a:r>
              <a:rPr lang="zh-CN" altLang="en-US" b="1"/>
              <a:t>问题）</a:t>
            </a:r>
            <a:endParaRPr lang="zh-CN" altLang="en-US" b="1"/>
          </a:p>
        </p:txBody>
      </p:sp>
      <p:pic>
        <p:nvPicPr>
          <p:cNvPr id="9" name="图片 8" descr="新能源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7960" y="591820"/>
            <a:ext cx="1146556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</a:t>
            </a:r>
            <a:r>
              <a:rPr lang="zh-CN" altLang="en-US" b="1"/>
              <a:t>、问：</a:t>
            </a:r>
            <a:r>
              <a:rPr lang="en-US" altLang="zh-CN" b="1"/>
              <a:t>I2C </a:t>
            </a:r>
            <a:r>
              <a:rPr lang="zh-CN" altLang="en-US" b="1"/>
              <a:t>怎么实现多设备的？寻址是怎么回事？</a:t>
            </a:r>
            <a:endParaRPr lang="zh-CN" altLang="en-US" b="1"/>
          </a:p>
          <a:p>
            <a:r>
              <a:rPr lang="zh-CN" altLang="en-US">
                <a:solidFill>
                  <a:schemeClr val="tx1"/>
                </a:solidFill>
              </a:rPr>
              <a:t>答：</a:t>
            </a:r>
            <a:r>
              <a:rPr lang="en-US" altLang="zh-CN">
                <a:solidFill>
                  <a:schemeClr val="tx1"/>
                </a:solidFill>
              </a:rPr>
              <a:t>I2C</a:t>
            </a:r>
            <a:r>
              <a:rPr lang="zh-CN" altLang="en-US">
                <a:solidFill>
                  <a:schemeClr val="tx1"/>
                </a:solidFill>
              </a:rPr>
              <a:t>总线上会并联多个从机设备，在通信开始前，主机会发送一个字节包含</a:t>
            </a:r>
            <a:r>
              <a:rPr lang="en-US" altLang="zh-CN">
                <a:solidFill>
                  <a:schemeClr val="tx1"/>
                </a:solidFill>
              </a:rPr>
              <a:t>7</a:t>
            </a:r>
            <a:r>
              <a:rPr lang="zh-CN" altLang="en-US">
                <a:solidFill>
                  <a:schemeClr val="tx1"/>
                </a:solidFill>
              </a:rPr>
              <a:t>位地址以及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位读写位，当从机中固有的地址与发送的地址匹配，就会返回一位应答位。如果没匹配上就会忽略后续</a:t>
            </a:r>
            <a:r>
              <a:rPr lang="zh-CN" altLang="en-US">
                <a:solidFill>
                  <a:schemeClr val="tx1"/>
                </a:solidFill>
              </a:rPr>
              <a:t>数据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2</a:t>
            </a:r>
            <a:r>
              <a:rPr lang="zh-CN" altLang="en-US" b="1">
                <a:solidFill>
                  <a:schemeClr val="tx1"/>
                </a:solidFill>
              </a:rPr>
              <a:t>、问：既然</a:t>
            </a:r>
            <a:r>
              <a:rPr lang="en-US" altLang="zh-CN" b="1">
                <a:solidFill>
                  <a:schemeClr val="tx1"/>
                </a:solidFill>
              </a:rPr>
              <a:t> I2C </a:t>
            </a:r>
            <a:r>
              <a:rPr lang="zh-CN" altLang="en-US" b="1">
                <a:solidFill>
                  <a:schemeClr val="tx1"/>
                </a:solidFill>
              </a:rPr>
              <a:t>有上拉电阻，那是谁把</a:t>
            </a:r>
            <a:r>
              <a:rPr lang="en-US" altLang="zh-CN" b="1">
                <a:solidFill>
                  <a:schemeClr val="tx1"/>
                </a:solidFill>
              </a:rPr>
              <a:t> SDA </a:t>
            </a:r>
            <a:r>
              <a:rPr lang="zh-CN" altLang="en-US" b="1">
                <a:solidFill>
                  <a:schemeClr val="tx1"/>
                </a:solidFill>
              </a:rPr>
              <a:t>变成高电平的？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答：</a:t>
            </a:r>
            <a:r>
              <a:rPr lang="en-US" altLang="zh-CN">
                <a:solidFill>
                  <a:schemeClr val="tx1"/>
                </a:solidFill>
              </a:rPr>
              <a:t>SDA </a:t>
            </a:r>
            <a:r>
              <a:rPr lang="zh-CN" altLang="en-US">
                <a:solidFill>
                  <a:schemeClr val="tx1"/>
                </a:solidFill>
              </a:rPr>
              <a:t>变成高电平不是由芯片内部推高的，而是芯片松手（释放总线），将引脚配置为开漏输出，由外部的上拉电阻将总线电平拉高。这就是</a:t>
            </a:r>
            <a:r>
              <a:rPr lang="zh-CN" altLang="en-US" b="1" u="sng">
                <a:solidFill>
                  <a:srgbClr val="FF0000"/>
                </a:solidFill>
              </a:rPr>
              <a:t>开漏输出</a:t>
            </a:r>
            <a:r>
              <a:rPr lang="zh-CN" altLang="en-US">
                <a:solidFill>
                  <a:schemeClr val="tx1"/>
                </a:solidFill>
              </a:rPr>
              <a:t>的精髓，为了防止主从机同时驱动总线导致短路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3</a:t>
            </a:r>
            <a:r>
              <a:rPr lang="zh-CN" altLang="en-US" b="1">
                <a:solidFill>
                  <a:schemeClr val="tx1"/>
                </a:solidFill>
              </a:rPr>
              <a:t>、问：硬件</a:t>
            </a:r>
            <a:r>
              <a:rPr lang="en-US" altLang="zh-CN" b="1">
                <a:solidFill>
                  <a:schemeClr val="tx1"/>
                </a:solidFill>
              </a:rPr>
              <a:t> I2C </a:t>
            </a:r>
            <a:r>
              <a:rPr lang="zh-CN" altLang="en-US" b="1">
                <a:solidFill>
                  <a:schemeClr val="tx1"/>
                </a:solidFill>
              </a:rPr>
              <a:t>和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r>
              <a:rPr lang="zh-CN" altLang="en-US" b="1">
                <a:solidFill>
                  <a:schemeClr val="tx1"/>
                </a:solidFill>
              </a:rPr>
              <a:t>软件模拟</a:t>
            </a:r>
            <a:r>
              <a:rPr lang="en-US" altLang="zh-CN" b="1">
                <a:solidFill>
                  <a:schemeClr val="tx1"/>
                </a:solidFill>
              </a:rPr>
              <a:t> I2C </a:t>
            </a:r>
            <a:r>
              <a:rPr lang="zh-CN" altLang="en-US" b="1">
                <a:solidFill>
                  <a:schemeClr val="tx1"/>
                </a:solidFill>
              </a:rPr>
              <a:t>有什么区别？</a:t>
            </a:r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答：硬件</a:t>
            </a:r>
            <a:r>
              <a:rPr lang="en-US" altLang="zh-CN">
                <a:solidFill>
                  <a:schemeClr val="tx1"/>
                </a:solidFill>
              </a:rPr>
              <a:t> I2C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单片机内部有专门的</a:t>
            </a:r>
            <a:r>
              <a:rPr lang="en-US" altLang="zh-CN">
                <a:solidFill>
                  <a:schemeClr val="tx1"/>
                </a:solidFill>
              </a:rPr>
              <a:t> I2C </a:t>
            </a:r>
            <a:r>
              <a:rPr lang="zh-CN" altLang="en-US">
                <a:solidFill>
                  <a:schemeClr val="tx1"/>
                </a:solidFill>
              </a:rPr>
              <a:t>控制器硬件外设。只要配置好寄存器，把数据扔给数据寄存器，硬件会自动生成</a:t>
            </a:r>
            <a:r>
              <a:rPr lang="en-US" altLang="zh-CN">
                <a:solidFill>
                  <a:schemeClr val="tx1"/>
                </a:solidFill>
              </a:rPr>
              <a:t> SCL </a:t>
            </a:r>
            <a:r>
              <a:rPr lang="zh-CN" altLang="en-US">
                <a:solidFill>
                  <a:schemeClr val="tx1"/>
                </a:solidFill>
              </a:rPr>
              <a:t>时钟并发数据，不占用</a:t>
            </a:r>
            <a:r>
              <a:rPr lang="en-US" altLang="zh-CN">
                <a:solidFill>
                  <a:schemeClr val="tx1"/>
                </a:solidFill>
              </a:rPr>
              <a:t> CPU </a:t>
            </a:r>
            <a:r>
              <a:rPr lang="zh-CN" altLang="en-US">
                <a:solidFill>
                  <a:schemeClr val="tx1"/>
                </a:solidFill>
              </a:rPr>
              <a:t>资源。</a:t>
            </a:r>
            <a:endParaRPr lang="zh-CN" altLang="en-US">
              <a:solidFill>
                <a:schemeClr val="tx1"/>
              </a:solidFill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</a:rPr>
              <a:t>软件</a:t>
            </a:r>
            <a:r>
              <a:rPr lang="en-US" altLang="zh-CN">
                <a:solidFill>
                  <a:schemeClr val="tx1"/>
                </a:solidFill>
              </a:rPr>
              <a:t>I2C</a:t>
            </a:r>
            <a:r>
              <a:rPr lang="zh-CN" altLang="en-US">
                <a:solidFill>
                  <a:schemeClr val="tx1"/>
                </a:solidFill>
              </a:rPr>
              <a:t>：纯靠</a:t>
            </a:r>
            <a:r>
              <a:rPr lang="en-US" altLang="zh-CN">
                <a:solidFill>
                  <a:schemeClr val="tx1"/>
                </a:solidFill>
              </a:rPr>
              <a:t> CPU </a:t>
            </a:r>
            <a:r>
              <a:rPr lang="zh-CN" altLang="en-US">
                <a:solidFill>
                  <a:schemeClr val="tx1"/>
                </a:solidFill>
              </a:rPr>
              <a:t>执行代码，通过控制普通</a:t>
            </a:r>
            <a:r>
              <a:rPr lang="en-US" altLang="zh-CN">
                <a:solidFill>
                  <a:schemeClr val="tx1"/>
                </a:solidFill>
              </a:rPr>
              <a:t> GPIO </a:t>
            </a:r>
            <a:r>
              <a:rPr lang="zh-CN" altLang="en-US">
                <a:solidFill>
                  <a:schemeClr val="tx1"/>
                </a:solidFill>
              </a:rPr>
              <a:t>引脚的高低电平翻转，配合延时函数，硬生生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画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出</a:t>
            </a:r>
            <a:r>
              <a:rPr lang="en-US" altLang="zh-CN">
                <a:solidFill>
                  <a:schemeClr val="tx1"/>
                </a:solidFill>
              </a:rPr>
              <a:t> I2C </a:t>
            </a:r>
            <a:r>
              <a:rPr lang="zh-CN" altLang="en-US">
                <a:solidFill>
                  <a:schemeClr val="tx1"/>
                </a:solidFill>
              </a:rPr>
              <a:t>的时序波形。优点是极度灵活、稳定，所有引脚都能用；缺点是占用</a:t>
            </a:r>
            <a:r>
              <a:rPr lang="en-US" altLang="zh-CN">
                <a:solidFill>
                  <a:schemeClr val="tx1"/>
                </a:solidFill>
              </a:rPr>
              <a:t> CPU </a:t>
            </a:r>
            <a:r>
              <a:rPr lang="zh-CN" altLang="en-US">
                <a:solidFill>
                  <a:schemeClr val="tx1"/>
                </a:solidFill>
              </a:rPr>
              <a:t>资源，且速度上限不如硬件</a:t>
            </a:r>
            <a:r>
              <a:rPr lang="en-US" altLang="zh-CN">
                <a:solidFill>
                  <a:schemeClr val="tx1"/>
                </a:solidFill>
              </a:rPr>
              <a:t> I2C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土壤湿度传感器：采用</a:t>
            </a:r>
            <a:r>
              <a:rPr lang="en-US" altLang="zh-CN" b="1"/>
              <a:t>ADC</a:t>
            </a:r>
            <a:endParaRPr lang="en-US" altLang="zh-CN" b="1"/>
          </a:p>
        </p:txBody>
      </p:sp>
      <p:pic>
        <p:nvPicPr>
          <p:cNvPr id="2" name="图片 1" descr="笑脸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87960" y="591820"/>
                <a:ext cx="11465560" cy="2623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1</a:t>
                </a:r>
                <a:r>
                  <a:rPr lang="zh-CN" altLang="en-US"/>
                  <a:t>、分辨率：通常使用</a:t>
                </a:r>
                <a:r>
                  <a:rPr lang="en-US" altLang="zh-CN"/>
                  <a:t>bit</a:t>
                </a:r>
                <a:r>
                  <a:rPr lang="zh-CN" altLang="en-US"/>
                  <a:t>（位）来表示【</a:t>
                </a:r>
                <a:r>
                  <a:rPr lang="en-US" altLang="zh-CN"/>
                  <a:t>STM32</a:t>
                </a:r>
                <a:r>
                  <a:rPr lang="zh-CN" altLang="en-US"/>
                  <a:t>使用的是</a:t>
                </a:r>
                <a:r>
                  <a:rPr lang="en-US" altLang="zh-CN"/>
                  <a:t>12</a:t>
                </a:r>
                <a:r>
                  <a:rPr lang="zh-CN" altLang="en-US"/>
                  <a:t>位</a:t>
                </a:r>
                <a:r>
                  <a:rPr lang="en-US" altLang="zh-CN"/>
                  <a:t>ADC——</a:t>
                </a:r>
                <a:r>
                  <a:rPr lang="zh-CN" altLang="en-US"/>
                  <a:t>故最小分辨率是</a:t>
                </a:r>
                <a:r>
                  <a:rPr lang="en-US" altLang="zh-CN"/>
                  <a:t>0.8mV</a:t>
                </a:r>
                <a:r>
                  <a:rPr lang="zh-CN" altLang="en-US"/>
                  <a:t>】</a:t>
                </a:r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真实电压</m:t>
                      </m:r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=（</m:t>
                      </m:r>
                      <m:f>
                        <m:fPr>
                          <m:ctrlPr>
                            <a:rPr lang="en-US" altLang="zh-CN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𝐴𝐷𝐶</m:t>
                          </m:r>
                          <m:r>
                            <a:rPr lang="zh-CN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读数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最大刻度数</m:t>
                          </m:r>
                        </m:den>
                      </m:f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）</m:t>
                      </m:r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r>
                        <a:rPr lang="zh-CN" altLang="en-US">
                          <a:latin typeface="Cambria Math" panose="02040503050406030204" charset="0"/>
                          <a:cs typeface="Cambria Math" panose="02040503050406030204" charset="0"/>
                        </a:rPr>
                        <m:t>参考电压</m:t>
                      </m:r>
                    </m:oMath>
                  </m:oMathPara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、采样率：每秒钟能采集到的数据，单位（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SPS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），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STM32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的最高采样率可到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1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Msps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3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、奈奎斯特定理：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ADC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的采样频率必须至少是信号最高频率的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倍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4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、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STM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中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ADC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的工作原理：逐渐逼近型（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SAR-ADC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）也可以理解为二叉查找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法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5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、在使用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ADC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进行工程实践的时候，由于模拟信号极易受干扰，数值波动跳动比较大。常用的做法是，连续读取十个数据，去掉最大值，去掉最小值，其余数据取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平均值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6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、参考电位可能不稳定，可以使用专用的高精度稳压芯片来提供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参考电位。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60" y="591820"/>
                <a:ext cx="11465560" cy="26238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USART</a:t>
            </a:r>
            <a:r>
              <a:rPr lang="zh-CN" altLang="en-US" b="1"/>
              <a:t>传输协议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87960" y="591820"/>
            <a:ext cx="1146556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USART</a:t>
            </a:r>
            <a:r>
              <a:rPr lang="zh-CN" altLang="en-US"/>
              <a:t>（通用同步异步收发器）：异步全双工，低位先行</a:t>
            </a:r>
            <a:r>
              <a:rPr lang="en-US" altLang="zh-CN"/>
              <a:t> 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、工作方法：一个字节的数据自动生成数据帧时序，从</a:t>
            </a:r>
            <a:r>
              <a:rPr lang="en-US" altLang="zh-CN"/>
              <a:t>TX</a:t>
            </a:r>
            <a:r>
              <a:rPr lang="zh-CN" altLang="en-US"/>
              <a:t>引脚发送出去，也可以接收</a:t>
            </a:r>
            <a:r>
              <a:rPr lang="en-US" altLang="zh-CN"/>
              <a:t>RX</a:t>
            </a:r>
            <a:r>
              <a:rPr lang="zh-CN" altLang="en-US"/>
              <a:t>引</a:t>
            </a:r>
            <a:endParaRPr lang="zh-CN" altLang="en-US"/>
          </a:p>
          <a:p>
            <a:r>
              <a:rPr lang="zh-CN" altLang="en-US"/>
              <a:t>脚的数据帧时序，拼接位一个字节的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STM32</a:t>
            </a:r>
            <a:r>
              <a:rPr lang="zh-CN" altLang="en-US"/>
              <a:t>自带的</a:t>
            </a:r>
            <a:r>
              <a:rPr lang="en-US" altLang="zh-CN"/>
              <a:t>USART</a:t>
            </a:r>
            <a:r>
              <a:rPr lang="zh-CN" altLang="en-US"/>
              <a:t>：自带波特发生器，最高达</a:t>
            </a:r>
            <a:r>
              <a:rPr lang="en-US" altLang="zh-CN"/>
              <a:t>4.5MHz</a:t>
            </a:r>
            <a:r>
              <a:rPr lang="zh-CN" altLang="en-US"/>
              <a:t>，可配置数据位长度（</a:t>
            </a:r>
            <a:r>
              <a:rPr lang="en-US" altLang="zh-CN"/>
              <a:t>8/9</a:t>
            </a:r>
            <a:r>
              <a:rPr lang="zh-CN" altLang="en-US"/>
              <a:t>），停止位长度（</a:t>
            </a:r>
            <a:r>
              <a:rPr lang="en-US" altLang="zh-CN"/>
              <a:t>0.5/1/1.5/2</a:t>
            </a:r>
            <a:r>
              <a:rPr lang="zh-CN" altLang="en-US"/>
              <a:t>），并且可以选择校验位（无校验，奇校验，</a:t>
            </a:r>
            <a:r>
              <a:rPr lang="zh-CN" altLang="en-US"/>
              <a:t>偶校验）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USART</a:t>
            </a:r>
            <a:r>
              <a:rPr lang="zh-CN" altLang="en-US"/>
              <a:t>基本</a:t>
            </a:r>
            <a:r>
              <a:rPr lang="zh-CN" altLang="en-US"/>
              <a:t>参数：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）波特率：串口通信的速率，决定了每隔多久发送一位数据，由于没有时钟线，在发送和接受的过程中需要约定好波特率，如果上位机与下位机的波特率不同就会出现乱码的</a:t>
            </a:r>
            <a:r>
              <a:rPr lang="zh-CN" altLang="en-US"/>
              <a:t>现象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）起始位：标志一个数据帧开始的时候，固定位低电平（空闲时为</a:t>
            </a:r>
            <a:r>
              <a:rPr lang="zh-CN" altLang="en-US"/>
              <a:t>高电平）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）数据位：数据帧，</a:t>
            </a:r>
            <a:r>
              <a:rPr lang="en-US" altLang="zh-CN"/>
              <a:t>1</a:t>
            </a:r>
            <a:r>
              <a:rPr lang="zh-CN" altLang="en-US"/>
              <a:t>为高电平，</a:t>
            </a:r>
            <a:r>
              <a:rPr lang="en-US" altLang="zh-CN"/>
              <a:t>0</a:t>
            </a:r>
            <a:r>
              <a:rPr lang="zh-CN" altLang="en-US"/>
              <a:t>为低电平，低位</a:t>
            </a:r>
            <a:r>
              <a:rPr lang="zh-CN" altLang="en-US"/>
              <a:t>先行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）校验位：用于数据验证，根据数据位计算</a:t>
            </a:r>
            <a:r>
              <a:rPr lang="zh-CN" altLang="en-US"/>
              <a:t>获得（为了防止中间受到干扰变异，可以加一位奇偶校验位）</a:t>
            </a:r>
            <a:endParaRPr lang="zh-CN" altLang="en-US"/>
          </a:p>
          <a:p>
            <a:pPr indent="457200"/>
            <a:r>
              <a:rPr lang="zh-CN" altLang="en-US"/>
              <a:t>【规则：加上校验位之后，连同</a:t>
            </a:r>
            <a:r>
              <a:rPr lang="en-US" altLang="zh-CN"/>
              <a:t> 8 </a:t>
            </a:r>
            <a:r>
              <a:rPr lang="zh-CN" altLang="en-US"/>
              <a:t>位数据位一起算，总共的二进制位中，数字</a:t>
            </a:r>
            <a:r>
              <a:rPr lang="en-US" altLang="zh-CN"/>
              <a:t> 1 </a:t>
            </a:r>
            <a:r>
              <a:rPr lang="zh-CN" altLang="en-US"/>
              <a:t>的个数必须是校验位所表示</a:t>
            </a:r>
            <a:r>
              <a:rPr lang="en-US" altLang="zh-CN"/>
              <a:t>	</a:t>
            </a:r>
            <a:r>
              <a:rPr lang="zh-CN" altLang="en-US"/>
              <a:t>的数据，无需自己写，这是软件中自身携带的</a:t>
            </a:r>
            <a:r>
              <a:rPr lang="zh-CN" altLang="en-US"/>
              <a:t>算法】</a:t>
            </a:r>
            <a:endParaRPr lang="zh-CN" altLang="en-US"/>
          </a:p>
          <a:p>
            <a:pPr indent="0" fontAlgn="auto"/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USART</a:t>
            </a:r>
            <a:r>
              <a:rPr lang="zh-CN" altLang="en-US">
                <a:solidFill>
                  <a:srgbClr val="FF0000"/>
                </a:solidFill>
              </a:rPr>
              <a:t>与</a:t>
            </a:r>
            <a:r>
              <a:rPr lang="en-US" altLang="zh-CN">
                <a:solidFill>
                  <a:srgbClr val="FF0000"/>
                </a:solidFill>
              </a:rPr>
              <a:t>UART</a:t>
            </a:r>
            <a:r>
              <a:rPr lang="zh-CN" altLang="en-US">
                <a:solidFill>
                  <a:srgbClr val="FF0000"/>
                </a:solidFill>
              </a:rPr>
              <a:t>的区别：</a:t>
            </a:r>
            <a:endParaRPr lang="zh-CN" altLang="en-US">
              <a:solidFill>
                <a:srgbClr val="FF0000"/>
              </a:solidFill>
            </a:endParaRPr>
          </a:p>
          <a:p>
            <a:pPr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UART</a:t>
            </a:r>
            <a:r>
              <a:rPr lang="zh-CN" altLang="en-US">
                <a:solidFill>
                  <a:schemeClr val="tx1"/>
                </a:solidFill>
              </a:rPr>
              <a:t>：通用异步收发器，是我们最常用的，只有</a:t>
            </a:r>
            <a:r>
              <a:rPr lang="en-US" altLang="zh-CN">
                <a:solidFill>
                  <a:schemeClr val="tx1"/>
                </a:solidFill>
              </a:rPr>
              <a:t>TX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RX</a:t>
            </a:r>
            <a:r>
              <a:rPr lang="zh-CN" altLang="en-US">
                <a:solidFill>
                  <a:schemeClr val="tx1"/>
                </a:solidFill>
              </a:rPr>
              <a:t>没有</a:t>
            </a:r>
            <a:r>
              <a:rPr lang="zh-CN" altLang="en-US">
                <a:solidFill>
                  <a:schemeClr val="tx1"/>
                </a:solidFill>
              </a:rPr>
              <a:t>时钟线</a:t>
            </a:r>
            <a:endParaRPr lang="zh-CN" altLang="en-US">
              <a:solidFill>
                <a:schemeClr val="tx1"/>
              </a:solidFill>
            </a:endParaRPr>
          </a:p>
          <a:p>
            <a:pPr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USART</a:t>
            </a:r>
            <a:r>
              <a:rPr lang="zh-CN" altLang="en-US">
                <a:solidFill>
                  <a:schemeClr val="tx1"/>
                </a:solidFill>
              </a:rPr>
              <a:t>：通用同步收发器，在原有的基础上多一根</a:t>
            </a:r>
            <a:r>
              <a:rPr lang="en-US" altLang="zh-CN">
                <a:solidFill>
                  <a:schemeClr val="tx1"/>
                </a:solidFill>
              </a:rPr>
              <a:t>SCLK</a:t>
            </a:r>
            <a:r>
              <a:rPr lang="zh-CN" altLang="en-US">
                <a:solidFill>
                  <a:schemeClr val="tx1"/>
                </a:solidFill>
              </a:rPr>
              <a:t>时钟线，在开启同步模式后，接收端可以判断时钟线的上升沿或者下降沿，来接收数据，而不是使用约定好的波特率。此方法有更高的传输速率并且更不容易受波特率误差</a:t>
            </a:r>
            <a:r>
              <a:rPr lang="zh-CN" altLang="en-US">
                <a:solidFill>
                  <a:schemeClr val="tx1"/>
                </a:solidFill>
              </a:rPr>
              <a:t>影响</a:t>
            </a:r>
            <a:endParaRPr lang="zh-CN" altLang="en-US">
              <a:solidFill>
                <a:schemeClr val="tx1"/>
              </a:solidFill>
            </a:endParaRPr>
          </a:p>
          <a:p>
            <a:pPr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）为何很少使用</a:t>
            </a:r>
            <a:r>
              <a:rPr lang="en-US" altLang="zh-CN">
                <a:solidFill>
                  <a:schemeClr val="tx1"/>
                </a:solidFill>
              </a:rPr>
              <a:t>USART</a:t>
            </a:r>
            <a:r>
              <a:rPr lang="zh-CN" altLang="en-US">
                <a:solidFill>
                  <a:schemeClr val="tx1"/>
                </a:solidFill>
              </a:rPr>
              <a:t>：因为管脚数量有限，如果使用</a:t>
            </a:r>
            <a:r>
              <a:rPr lang="en-US" altLang="zh-CN">
                <a:solidFill>
                  <a:schemeClr val="tx1"/>
                </a:solidFill>
              </a:rPr>
              <a:t>USART</a:t>
            </a:r>
            <a:r>
              <a:rPr lang="zh-CN" altLang="en-US">
                <a:solidFill>
                  <a:schemeClr val="tx1"/>
                </a:solidFill>
              </a:rPr>
              <a:t>还不如使用</a:t>
            </a:r>
            <a:r>
              <a:rPr lang="en-US" altLang="zh-CN">
                <a:solidFill>
                  <a:schemeClr val="tx1"/>
                </a:solidFill>
              </a:rPr>
              <a:t>SPI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>
                <a:solidFill>
                  <a:schemeClr val="tx1"/>
                </a:solidFill>
              </a:rPr>
              <a:t>I2C</a:t>
            </a:r>
            <a:r>
              <a:rPr lang="zh-CN" altLang="en-US">
                <a:solidFill>
                  <a:schemeClr val="tx1"/>
                </a:solidFill>
              </a:rPr>
              <a:t>通讯协议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9552305" y="0"/>
            <a:ext cx="2639695" cy="1391920"/>
          </a:xfrm>
          <a:prstGeom prst="rect">
            <a:avLst/>
          </a:prstGeom>
        </p:spPr>
      </p:pic>
      <p:pic>
        <p:nvPicPr>
          <p:cNvPr id="8" name="图片 7" descr="五角星-圆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USART</a:t>
            </a:r>
            <a:r>
              <a:rPr lang="zh-CN" altLang="en-US" b="1"/>
              <a:t>传输协议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87960" y="591820"/>
            <a:ext cx="1146556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6</a:t>
            </a:r>
            <a:r>
              <a:rPr lang="zh-CN" altLang="en-US">
                <a:solidFill>
                  <a:schemeClr val="tx1"/>
                </a:solidFill>
              </a:rPr>
              <a:t>、单片机如何接收</a:t>
            </a:r>
            <a:r>
              <a:rPr lang="zh-CN" altLang="en-US">
                <a:solidFill>
                  <a:schemeClr val="tx1"/>
                </a:solidFill>
              </a:rPr>
              <a:t>串口数据</a:t>
            </a:r>
            <a:endParaRPr lang="zh-CN" altLang="en-US">
              <a:solidFill>
                <a:schemeClr val="tx1"/>
              </a:solidFill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）轮询法（死等数据）：使用</a:t>
            </a:r>
            <a:r>
              <a:rPr lang="en-US" altLang="zh-CN">
                <a:solidFill>
                  <a:schemeClr val="tx1"/>
                </a:solidFill>
              </a:rPr>
              <a:t>while</a:t>
            </a:r>
            <a:r>
              <a:rPr lang="zh-CN" altLang="en-US">
                <a:solidFill>
                  <a:schemeClr val="tx1"/>
                </a:solidFill>
              </a:rPr>
              <a:t>循环，观察串口接收寄存器，等到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，进行数据接受，但是这种方法会过度的占用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资源，其他任务无法正常</a:t>
            </a:r>
            <a:r>
              <a:rPr lang="zh-CN" altLang="en-US">
                <a:solidFill>
                  <a:schemeClr val="tx1"/>
                </a:solidFill>
              </a:rPr>
              <a:t>进行</a:t>
            </a:r>
            <a:endParaRPr lang="zh-CN" altLang="en-US">
              <a:solidFill>
                <a:schemeClr val="tx1"/>
              </a:solidFill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）中断接收：配置串口中断，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只会在串口触发中断时进行工作，其余时间会完成其他任务，但是如果传输速率非常快也会导致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频繁打断，工程不一定能够成功运行（本项目使用的是中断接收，由于数据发送数据都是</a:t>
            </a:r>
            <a:r>
              <a:rPr lang="en-US" altLang="zh-CN">
                <a:solidFill>
                  <a:schemeClr val="tx1"/>
                </a:solidFill>
              </a:rPr>
              <a:t>ms</a:t>
            </a:r>
            <a:r>
              <a:rPr lang="zh-CN" altLang="en-US">
                <a:solidFill>
                  <a:schemeClr val="tx1"/>
                </a:solidFill>
              </a:rPr>
              <a:t>级别以上的，所以并不用过多担心</a:t>
            </a:r>
            <a:r>
              <a:rPr lang="zh-CN" altLang="en-US">
                <a:solidFill>
                  <a:schemeClr val="tx1"/>
                </a:solidFill>
              </a:rPr>
              <a:t>此问题）</a:t>
            </a:r>
            <a:endParaRPr lang="zh-CN" altLang="en-US">
              <a:solidFill>
                <a:schemeClr val="tx1"/>
              </a:solidFill>
            </a:endParaRPr>
          </a:p>
          <a:p>
            <a:pPr indent="457200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）最佳方案：</a:t>
            </a:r>
            <a:r>
              <a:rPr lang="en-US" altLang="zh-CN">
                <a:solidFill>
                  <a:schemeClr val="tx1"/>
                </a:solidFill>
              </a:rPr>
              <a:t>DMA+</a:t>
            </a:r>
            <a:r>
              <a:rPr lang="zh-CN" altLang="en-US">
                <a:solidFill>
                  <a:schemeClr val="tx1"/>
                </a:solidFill>
              </a:rPr>
              <a:t>串口空闲中断</a:t>
            </a:r>
            <a:endParaRPr lang="en-US" altLang="zh-CN">
              <a:solidFill>
                <a:schemeClr val="tx1"/>
              </a:solidFill>
            </a:endParaRPr>
          </a:p>
          <a:p>
            <a:pPr marL="457200" lvl="1" indent="457200"/>
            <a:r>
              <a:rPr lang="en-US" altLang="zh-CN">
                <a:solidFill>
                  <a:srgbClr val="FF0000"/>
                </a:solidFill>
              </a:rPr>
              <a:t>DMA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直接内存访问，收到的数据直接存入内存，不在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中</a:t>
            </a:r>
            <a:r>
              <a:rPr lang="zh-CN" altLang="en-US">
                <a:solidFill>
                  <a:schemeClr val="tx1"/>
                </a:solidFill>
              </a:rPr>
              <a:t>进行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457200"/>
            <a:r>
              <a:rPr lang="zh-CN" altLang="en-US">
                <a:solidFill>
                  <a:schemeClr val="tx1"/>
                </a:solidFill>
              </a:rPr>
              <a:t>串口空闲中断：当发送方发完一句话，串口线上会出现一个字节以上的空闲时间，检测到一个空闲中断，将之前所有的数据统一打包发送到内存，这样能大大减轻</a:t>
            </a:r>
            <a:r>
              <a:rPr lang="en-US" altLang="zh-CN">
                <a:solidFill>
                  <a:schemeClr val="tx1"/>
                </a:solidFill>
              </a:rPr>
              <a:t>CPU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zh-CN" altLang="en-US">
                <a:solidFill>
                  <a:schemeClr val="tx1"/>
                </a:solidFill>
              </a:rPr>
              <a:t>工作量</a:t>
            </a:r>
            <a:endParaRPr lang="zh-CN" altLang="en-US">
              <a:solidFill>
                <a:schemeClr val="tx1"/>
              </a:solidFill>
            </a:endParaRPr>
          </a:p>
          <a:p>
            <a:pPr marL="0" lvl="1" indent="0" fontAlgn="auto"/>
            <a:r>
              <a:rPr lang="en-US" altLang="zh-CN">
                <a:solidFill>
                  <a:schemeClr val="tx1"/>
                </a:solidFill>
              </a:rPr>
              <a:t>7</a:t>
            </a:r>
            <a:r>
              <a:rPr lang="zh-CN" altLang="en-US">
                <a:solidFill>
                  <a:schemeClr val="tx1"/>
                </a:solidFill>
              </a:rPr>
              <a:t>、拓展：环形</a:t>
            </a:r>
            <a:r>
              <a:rPr lang="zh-CN" altLang="en-US">
                <a:solidFill>
                  <a:schemeClr val="tx1"/>
                </a:solidFill>
              </a:rPr>
              <a:t>缓冲区</a:t>
            </a:r>
            <a:endParaRPr lang="zh-CN" altLang="en-US">
              <a:solidFill>
                <a:schemeClr val="tx1"/>
              </a:solidFill>
            </a:endParaRPr>
          </a:p>
          <a:p>
            <a:pPr marL="0" lvl="1"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单片机一次性接收到很多数据，但是来不及处理容易出现原始数据被新数据覆盖的问题，如果使用普通数组，也会有存满数据的时候，你要把整个数组清零重头开始吗？那中间正在读的数据就乱了；或者数组移位？浪费</a:t>
            </a:r>
            <a:r>
              <a:rPr lang="en-US" altLang="zh-CN">
                <a:solidFill>
                  <a:schemeClr val="tx1"/>
                </a:solidFill>
              </a:rPr>
              <a:t> CPU </a:t>
            </a:r>
            <a:r>
              <a:rPr lang="zh-CN" altLang="en-US">
                <a:solidFill>
                  <a:schemeClr val="tx1"/>
                </a:solidFill>
              </a:rPr>
              <a:t>时间！</a:t>
            </a:r>
            <a:endParaRPr lang="zh-CN" altLang="en-US">
              <a:solidFill>
                <a:schemeClr val="tx1"/>
              </a:solidFill>
            </a:endParaRPr>
          </a:p>
          <a:p>
            <a:pPr marL="0" lvl="1"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）设置环形缓冲区大小，并且还需要有一个读指针以及写指针（写指针即为当接收到一个新数据时，将其放在写指针的位置上，然后写指针</a:t>
            </a:r>
            <a:r>
              <a:rPr lang="en-US" altLang="zh-CN">
                <a:solidFill>
                  <a:schemeClr val="tx1"/>
                </a:solidFill>
              </a:rPr>
              <a:t>+1</a:t>
            </a:r>
            <a:r>
              <a:rPr lang="zh-CN" altLang="en-US">
                <a:solidFill>
                  <a:schemeClr val="tx1"/>
                </a:solidFill>
              </a:rPr>
              <a:t>，读指针即为当读指针上有数据时，读取数据并且指针</a:t>
            </a:r>
            <a:r>
              <a:rPr lang="en-US" altLang="zh-CN">
                <a:solidFill>
                  <a:schemeClr val="tx1"/>
                </a:solidFill>
              </a:rPr>
              <a:t>+1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pPr marL="0" lvl="1"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）使用</a:t>
            </a:r>
            <a:r>
              <a:rPr lang="en-US" altLang="zh-CN">
                <a:solidFill>
                  <a:schemeClr val="tx1"/>
                </a:solidFill>
              </a:rPr>
              <a:t>%</a:t>
            </a:r>
            <a:r>
              <a:rPr lang="zh-CN" altLang="en-US">
                <a:solidFill>
                  <a:schemeClr val="tx1"/>
                </a:solidFill>
              </a:rPr>
              <a:t>取余功能实现环的</a:t>
            </a:r>
            <a:r>
              <a:rPr lang="zh-CN" altLang="en-US">
                <a:solidFill>
                  <a:schemeClr val="tx1"/>
                </a:solidFill>
              </a:rPr>
              <a:t>效果</a:t>
            </a:r>
            <a:endParaRPr lang="zh-CN" altLang="en-US">
              <a:solidFill>
                <a:schemeClr val="tx1"/>
              </a:solidFill>
            </a:endParaRPr>
          </a:p>
          <a:p>
            <a:pPr marL="0" lvl="1"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4</a:t>
            </a:r>
            <a:r>
              <a:rPr lang="zh-CN" altLang="en-US">
                <a:solidFill>
                  <a:schemeClr val="tx1"/>
                </a:solidFill>
              </a:rPr>
              <a:t>）缓冲区</a:t>
            </a:r>
            <a:r>
              <a:rPr lang="zh-CN" altLang="en-US">
                <a:solidFill>
                  <a:schemeClr val="tx1"/>
                </a:solidFill>
              </a:rPr>
              <a:t>已空：当写指针等于读指针时，缓冲区</a:t>
            </a:r>
            <a:r>
              <a:rPr lang="zh-CN" altLang="en-US">
                <a:solidFill>
                  <a:schemeClr val="tx1"/>
                </a:solidFill>
              </a:rPr>
              <a:t>为空</a:t>
            </a:r>
            <a:endParaRPr lang="zh-CN" altLang="en-US">
              <a:solidFill>
                <a:schemeClr val="tx1"/>
              </a:solidFill>
            </a:endParaRPr>
          </a:p>
          <a:p>
            <a:pPr marL="0" lvl="1" indent="457200" fontAlgn="auto"/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5</a:t>
            </a:r>
            <a:r>
              <a:rPr lang="zh-CN" altLang="en-US">
                <a:solidFill>
                  <a:schemeClr val="tx1"/>
                </a:solidFill>
              </a:rPr>
              <a:t>）缓冲区已满：在缓冲区中始终留一空位，只要当写指针在读指针之前一位的时候代表缓冲区</a:t>
            </a:r>
            <a:r>
              <a:rPr lang="zh-CN" altLang="en-US">
                <a:solidFill>
                  <a:schemeClr val="tx1"/>
                </a:solidFill>
              </a:rPr>
              <a:t>已满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8" name="图片 7" descr="五角星-圆环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TCP/IP </a:t>
            </a:r>
            <a:r>
              <a:rPr lang="zh-CN" altLang="en-US" b="1"/>
              <a:t>协议栈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87960" y="591820"/>
            <a:ext cx="1146556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、协议栈：网络传输过程中，数据不能直接发送在网线上，需要经过层层包装，这个过程就叫</a:t>
            </a:r>
            <a:r>
              <a:rPr lang="zh-CN" altLang="en-US"/>
              <a:t>协议栈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TCP/IP</a:t>
            </a:r>
            <a:r>
              <a:rPr lang="zh-CN" altLang="en-US"/>
              <a:t>四大层次（从上到</a:t>
            </a:r>
            <a:r>
              <a:rPr lang="zh-CN" altLang="en-US"/>
              <a:t>下）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）应用层：决定了数据内容和格</a:t>
            </a:r>
            <a:r>
              <a:rPr lang="zh-CN" altLang="en-US"/>
              <a:t>式</a:t>
            </a:r>
            <a:endParaRPr lang="zh-CN" altLang="en-US"/>
          </a:p>
          <a:p>
            <a:pPr indent="457200"/>
            <a:r>
              <a:rPr lang="zh-CN" altLang="en-US"/>
              <a:t>【常见的应用层：</a:t>
            </a:r>
            <a:r>
              <a:rPr lang="en-US" altLang="zh-CN"/>
              <a:t>HTTP</a:t>
            </a:r>
            <a:r>
              <a:rPr lang="zh-CN" altLang="en-US"/>
              <a:t>，</a:t>
            </a:r>
            <a:r>
              <a:rPr lang="en-US" altLang="zh-CN"/>
              <a:t>MQTT</a:t>
            </a:r>
            <a:r>
              <a:rPr lang="zh-CN" altLang="en-US"/>
              <a:t>，</a:t>
            </a:r>
            <a:r>
              <a:rPr lang="en-US" altLang="zh-CN"/>
              <a:t>DNS</a:t>
            </a:r>
            <a:r>
              <a:rPr lang="zh-CN" altLang="en-US"/>
              <a:t>】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）传输层：负责建立两台设备之间的通信路线，决定传输</a:t>
            </a:r>
            <a:r>
              <a:rPr lang="zh-CN" altLang="en-US"/>
              <a:t>策略</a:t>
            </a:r>
            <a:endParaRPr lang="zh-CN" altLang="en-US"/>
          </a:p>
          <a:p>
            <a:pPr indent="457200"/>
            <a:r>
              <a:rPr lang="zh-CN" altLang="en-US"/>
              <a:t>【</a:t>
            </a:r>
            <a:r>
              <a:rPr lang="en-US" altLang="zh-CN"/>
              <a:t>TCP</a:t>
            </a:r>
            <a:r>
              <a:rPr lang="zh-CN" altLang="en-US"/>
              <a:t>（传输控制协议）：速度慢但是可靠，如果失败会自动重发，顺序乱了也能重新</a:t>
            </a:r>
            <a:r>
              <a:rPr lang="zh-CN" altLang="en-US"/>
              <a:t>自动排序】</a:t>
            </a:r>
            <a:endParaRPr lang="zh-CN" altLang="en-US"/>
          </a:p>
          <a:p>
            <a:pPr indent="457200"/>
            <a:r>
              <a:rPr lang="zh-CN" altLang="en-US"/>
              <a:t>【</a:t>
            </a:r>
            <a:r>
              <a:rPr lang="en-US" altLang="zh-CN"/>
              <a:t>UDP</a:t>
            </a:r>
            <a:r>
              <a:rPr lang="zh-CN" altLang="en-US"/>
              <a:t>（用户数据</a:t>
            </a:r>
            <a:r>
              <a:rPr lang="zh-CN" altLang="en-US"/>
              <a:t>报协议）：速度快但是不可靠，发送之后结果如何不会</a:t>
            </a:r>
            <a:r>
              <a:rPr lang="zh-CN" altLang="en-US"/>
              <a:t>负责】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）网络层：在复杂的网络环境中为要发送的数据报找到一个合适路径进行传输，负责地址管理路由选择</a:t>
            </a:r>
            <a:endParaRPr lang="zh-CN" altLang="en-US"/>
          </a:p>
          <a:p>
            <a:pPr indent="457200"/>
            <a:r>
              <a:rPr lang="zh-CN" altLang="en-US"/>
              <a:t>【核心协议</a:t>
            </a:r>
            <a:r>
              <a:rPr lang="en-US" altLang="zh-CN"/>
              <a:t>IP</a:t>
            </a:r>
            <a:r>
              <a:rPr lang="zh-CN" altLang="en-US"/>
              <a:t>协议：世界上每一个入网的设备都会有一个</a:t>
            </a:r>
            <a:r>
              <a:rPr lang="en-US" altLang="zh-CN"/>
              <a:t>IP</a:t>
            </a:r>
            <a:r>
              <a:rPr lang="zh-CN" altLang="en-US"/>
              <a:t>地址，数据包会根据</a:t>
            </a:r>
            <a:r>
              <a:rPr lang="en-US" altLang="zh-CN"/>
              <a:t>IP</a:t>
            </a:r>
            <a:r>
              <a:rPr lang="zh-CN" altLang="en-US"/>
              <a:t>地址规划路径进行</a:t>
            </a:r>
            <a:r>
              <a:rPr lang="zh-CN" altLang="en-US"/>
              <a:t>传输】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zh-CN" altLang="en-US"/>
              <a:t>网络接口处：处理与物理硬件的交互</a:t>
            </a:r>
            <a:endParaRPr lang="zh-CN" altLang="en-US"/>
          </a:p>
          <a:p>
            <a:pPr indent="457200"/>
            <a:r>
              <a:rPr lang="zh-CN" altLang="en-US"/>
              <a:t>【核心概念：</a:t>
            </a:r>
            <a:r>
              <a:rPr lang="en-US" altLang="zh-CN"/>
              <a:t> MAC </a:t>
            </a:r>
            <a:r>
              <a:rPr lang="zh-CN" altLang="en-US"/>
              <a:t>地址（网卡的物理地址，出厂固化，全球唯一）</a:t>
            </a:r>
            <a:r>
              <a:rPr lang="zh-CN" altLang="en-US"/>
              <a:t>】</a:t>
            </a:r>
            <a:endParaRPr lang="zh-CN" altLang="en-US"/>
          </a:p>
          <a:p>
            <a:pPr indent="0" fontAlgn="auto"/>
            <a:r>
              <a:rPr lang="en-US" altLang="zh-CN"/>
              <a:t>3</a:t>
            </a:r>
            <a:r>
              <a:rPr lang="zh-CN" altLang="en-US"/>
              <a:t>、数据如何发送（以</a:t>
            </a:r>
            <a:r>
              <a:rPr lang="en-US" altLang="zh-CN"/>
              <a:t>ESP8266</a:t>
            </a:r>
            <a:r>
              <a:rPr lang="zh-CN" altLang="en-US"/>
              <a:t>举例）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）应用层：获取一</a:t>
            </a:r>
            <a:r>
              <a:rPr lang="zh-CN" altLang="en-US"/>
              <a:t>组数据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）传输层（</a:t>
            </a:r>
            <a:r>
              <a:rPr lang="en-US" altLang="zh-CN"/>
              <a:t>TCP</a:t>
            </a:r>
            <a:r>
              <a:rPr lang="zh-CN" altLang="en-US"/>
              <a:t>）：将数据进行打包，贴上</a:t>
            </a:r>
            <a:r>
              <a:rPr lang="en-US" altLang="zh-CN"/>
              <a:t>TCP</a:t>
            </a:r>
            <a:r>
              <a:rPr lang="zh-CN" altLang="en-US"/>
              <a:t>报头（写上源端口和目的端口）</a:t>
            </a:r>
            <a:r>
              <a:rPr lang="en-US" altLang="zh-CN"/>
              <a:t>—— </a:t>
            </a:r>
            <a:r>
              <a:rPr lang="zh-CN" altLang="en-US"/>
              <a:t>称为</a:t>
            </a:r>
            <a:r>
              <a:rPr lang="zh-CN" altLang="en-US"/>
              <a:t>数据段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）网络层（</a:t>
            </a:r>
            <a:r>
              <a:rPr lang="en-US" altLang="zh-CN"/>
              <a:t>IP</a:t>
            </a:r>
            <a:r>
              <a:rPr lang="zh-CN" altLang="en-US"/>
              <a:t>）：将包装好的数据再进行包装，贴上</a:t>
            </a:r>
            <a:r>
              <a:rPr lang="en-US" altLang="zh-CN"/>
              <a:t>IP</a:t>
            </a:r>
            <a:r>
              <a:rPr lang="zh-CN" altLang="en-US"/>
              <a:t>报头（写上源</a:t>
            </a:r>
            <a:r>
              <a:rPr lang="en-US" altLang="zh-CN"/>
              <a:t>IP</a:t>
            </a:r>
            <a:r>
              <a:rPr lang="zh-CN" altLang="en-US"/>
              <a:t>个目的</a:t>
            </a:r>
            <a:r>
              <a:rPr lang="en-US" altLang="zh-CN"/>
              <a:t>IP</a:t>
            </a:r>
            <a:r>
              <a:rPr lang="zh-CN" altLang="en-US"/>
              <a:t>）</a:t>
            </a:r>
            <a:r>
              <a:rPr lang="en-US" altLang="zh-CN"/>
              <a:t>——</a:t>
            </a:r>
            <a:r>
              <a:rPr lang="zh-CN" altLang="en-US"/>
              <a:t>称为</a:t>
            </a:r>
            <a:r>
              <a:rPr lang="zh-CN" altLang="en-US"/>
              <a:t>数据报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）网络接口层（</a:t>
            </a:r>
            <a:r>
              <a:rPr lang="en-US" altLang="zh-CN"/>
              <a:t>WiFi</a:t>
            </a:r>
            <a:r>
              <a:rPr lang="zh-CN" altLang="en-US"/>
              <a:t>）：再将包好的数据进行包装，贴上</a:t>
            </a:r>
            <a:r>
              <a:rPr lang="en-US" altLang="zh-CN"/>
              <a:t>MAC</a:t>
            </a:r>
            <a:r>
              <a:rPr lang="zh-CN" altLang="en-US"/>
              <a:t>报头（写上硬件</a:t>
            </a:r>
            <a:r>
              <a:rPr lang="en-US" altLang="zh-CN"/>
              <a:t>MAC</a:t>
            </a:r>
            <a:r>
              <a:rPr lang="zh-CN" altLang="en-US"/>
              <a:t>地址）</a:t>
            </a:r>
            <a:r>
              <a:rPr lang="en-US" altLang="zh-CN"/>
              <a:t>——</a:t>
            </a:r>
            <a:r>
              <a:rPr lang="zh-CN" altLang="en-US"/>
              <a:t>数据帧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）物理层：把数据帧变成电磁波或电平信号，使用天线进行</a:t>
            </a:r>
            <a:r>
              <a:rPr lang="zh-CN" altLang="en-US"/>
              <a:t>发送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）到达服务器，服务器反向拆包获取</a:t>
            </a:r>
            <a:r>
              <a:rPr lang="zh-CN" altLang="en-US"/>
              <a:t>数据</a:t>
            </a:r>
            <a:endParaRPr lang="zh-CN" altLang="en-US"/>
          </a:p>
          <a:p>
            <a:pPr indent="0" fontAlgn="auto"/>
            <a:r>
              <a:rPr lang="en-US" altLang="zh-CN">
                <a:solidFill>
                  <a:srgbClr val="FF0000"/>
                </a:solidFill>
              </a:rPr>
              <a:t>4</a:t>
            </a:r>
            <a:r>
              <a:rPr lang="zh-CN" altLang="en-US">
                <a:solidFill>
                  <a:srgbClr val="FF0000"/>
                </a:solidFill>
              </a:rPr>
              <a:t>、为什么分层打包：</a:t>
            </a:r>
            <a:r>
              <a:rPr lang="zh-CN" altLang="en-US" b="1" u="sng">
                <a:solidFill>
                  <a:srgbClr val="FF0000"/>
                </a:solidFill>
              </a:rPr>
              <a:t>解耦</a:t>
            </a: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zh-CN" altLang="en-US">
                <a:solidFill>
                  <a:srgbClr val="FF0000"/>
                </a:solidFill>
              </a:rPr>
              <a:t>如果一次性包装容易发生崩溃，分层之后，可以选择只改那一层内容既可，互不干扰，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自由组合，每一个部分都是标准化模块</a:t>
            </a:r>
            <a:r>
              <a:rPr lang="zh-CN" altLang="en-US">
                <a:solidFill>
                  <a:srgbClr val="FF0000"/>
                </a:solidFill>
              </a:rPr>
              <a:t>方便使用。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 descr="授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TCP/IP </a:t>
            </a:r>
            <a:r>
              <a:rPr lang="zh-CN" altLang="en-US" b="1"/>
              <a:t>协议栈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87960" y="591820"/>
            <a:ext cx="1146556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5</a:t>
            </a:r>
            <a:r>
              <a:rPr lang="zh-CN" altLang="en-US"/>
              <a:t>、由于</a:t>
            </a:r>
            <a:r>
              <a:rPr lang="en-US" altLang="zh-CN"/>
              <a:t>TCP</a:t>
            </a:r>
            <a:r>
              <a:rPr lang="zh-CN" altLang="en-US"/>
              <a:t>可靠，故在传输过程中需要严格遵守</a:t>
            </a:r>
            <a:r>
              <a:rPr lang="zh-CN" altLang="en-US">
                <a:solidFill>
                  <a:srgbClr val="FF0000"/>
                </a:solidFill>
              </a:rPr>
              <a:t>三次握手，四次挥手</a:t>
            </a:r>
            <a:r>
              <a:rPr lang="zh-CN" altLang="en-US"/>
              <a:t>原则</a:t>
            </a:r>
            <a:endParaRPr lang="en-US"/>
          </a:p>
          <a:p>
            <a:r>
              <a:rPr lang="en-US" altLang="zh-CN"/>
              <a:t>6</a:t>
            </a:r>
            <a:r>
              <a:rPr lang="zh-CN" altLang="en-US"/>
              <a:t>、三次</a:t>
            </a:r>
            <a:r>
              <a:rPr lang="zh-CN" altLang="en-US"/>
              <a:t>握手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）第一次</a:t>
            </a:r>
            <a:r>
              <a:rPr lang="zh-CN" altLang="en-US"/>
              <a:t>握手（客户端</a:t>
            </a:r>
            <a:r>
              <a:rPr lang="en-US" altLang="zh-CN"/>
              <a:t> &gt; </a:t>
            </a:r>
            <a:r>
              <a:rPr lang="zh-CN" altLang="en-US"/>
              <a:t>服务端）：客户端发送</a:t>
            </a:r>
            <a:r>
              <a:rPr lang="en-US" altLang="zh-CN"/>
              <a:t>SYN</a:t>
            </a:r>
            <a:r>
              <a:rPr lang="zh-CN" altLang="en-US"/>
              <a:t>报文，客户端进入</a:t>
            </a:r>
            <a:r>
              <a:rPr lang="en-US" altLang="zh-CN"/>
              <a:t>SYN_SENT</a:t>
            </a:r>
            <a:r>
              <a:rPr lang="zh-CN" altLang="en-US"/>
              <a:t>状态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）第二次</a:t>
            </a:r>
            <a:r>
              <a:rPr lang="zh-CN" altLang="en-US">
                <a:sym typeface="+mn-ea"/>
              </a:rPr>
              <a:t>握</a:t>
            </a:r>
            <a:r>
              <a:rPr lang="zh-CN" altLang="en-US"/>
              <a:t>手（服务端</a:t>
            </a:r>
            <a:r>
              <a:rPr lang="en-US" altLang="zh-CN"/>
              <a:t> &gt; </a:t>
            </a:r>
            <a:r>
              <a:rPr lang="zh-CN" altLang="en-US"/>
              <a:t>客户端）：服务端收到</a:t>
            </a:r>
            <a:r>
              <a:rPr lang="en-US" altLang="zh-CN"/>
              <a:t>SYN</a:t>
            </a:r>
            <a:r>
              <a:rPr lang="zh-CN" altLang="en-US"/>
              <a:t>报文，发送</a:t>
            </a:r>
            <a:r>
              <a:rPr lang="en-US" altLang="zh-CN"/>
              <a:t>SYN+ACK</a:t>
            </a:r>
            <a:r>
              <a:rPr lang="zh-CN" altLang="en-US"/>
              <a:t>报文，服务端进入</a:t>
            </a:r>
            <a:r>
              <a:rPr lang="en-US" altLang="zh-CN"/>
              <a:t>	SYN_RCVD</a:t>
            </a:r>
            <a:r>
              <a:rPr lang="zh-CN" altLang="en-US"/>
              <a:t>状态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）第三次</a:t>
            </a:r>
            <a:r>
              <a:rPr lang="zh-CN" altLang="en-US">
                <a:sym typeface="+mn-ea"/>
              </a:rPr>
              <a:t>握</a:t>
            </a:r>
            <a:r>
              <a:rPr lang="zh-CN" altLang="en-US"/>
              <a:t>手（客户端</a:t>
            </a:r>
            <a:r>
              <a:rPr lang="en-US" altLang="zh-CN"/>
              <a:t> &gt; </a:t>
            </a:r>
            <a:r>
              <a:rPr lang="zh-CN" altLang="en-US"/>
              <a:t>服务端）：客户端收到</a:t>
            </a:r>
            <a:r>
              <a:rPr lang="en-US" altLang="zh-CN">
                <a:sym typeface="+mn-ea"/>
              </a:rPr>
              <a:t>SYN+ACK</a:t>
            </a:r>
            <a:r>
              <a:rPr lang="zh-CN" altLang="en-US">
                <a:sym typeface="+mn-ea"/>
              </a:rPr>
              <a:t>，发送</a:t>
            </a:r>
            <a:r>
              <a:rPr lang="en-US" altLang="zh-CN">
                <a:sym typeface="+mn-ea"/>
              </a:rPr>
              <a:t>ACK</a:t>
            </a:r>
            <a:r>
              <a:rPr lang="zh-CN" altLang="en-US">
                <a:sym typeface="+mn-ea"/>
              </a:rPr>
              <a:t>给服务端，</a:t>
            </a:r>
            <a:r>
              <a:rPr lang="zh-CN" altLang="en-US"/>
              <a:t>此时客户端进入</a:t>
            </a:r>
            <a:r>
              <a:rPr lang="en-US" altLang="zh-CN"/>
              <a:t> 	ESTABLISHED</a:t>
            </a:r>
            <a:r>
              <a:rPr lang="zh-CN" altLang="en-US"/>
              <a:t>（已建立连接）状态，服务端收到后也进入</a:t>
            </a:r>
            <a:r>
              <a:rPr lang="en-US" altLang="zh-CN"/>
              <a:t> ESTABLISHED </a:t>
            </a:r>
            <a:r>
              <a:rPr lang="zh-CN" altLang="en-US"/>
              <a:t>状态</a:t>
            </a:r>
            <a:endParaRPr lang="zh-CN" altLang="en-US"/>
          </a:p>
          <a:p>
            <a:pPr indent="457200"/>
            <a:r>
              <a:rPr lang="zh-CN" altLang="en-US"/>
              <a:t>双方即可传输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zh-CN" altLang="en-US"/>
              <a:t>四次挥手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第一次挥手（客户端</a:t>
            </a:r>
            <a:r>
              <a:rPr lang="en-US" altLang="zh-CN">
                <a:sym typeface="+mn-ea"/>
              </a:rPr>
              <a:t> &gt; </a:t>
            </a:r>
            <a:r>
              <a:rPr lang="zh-CN" altLang="en-US">
                <a:sym typeface="+mn-ea"/>
              </a:rPr>
              <a:t>服务端）：客户端发送数据完毕，主动发送</a:t>
            </a:r>
            <a:r>
              <a:rPr lang="en-US" altLang="zh-CN">
                <a:sym typeface="+mn-ea"/>
              </a:rPr>
              <a:t>FIN</a:t>
            </a:r>
            <a:r>
              <a:rPr lang="zh-CN" altLang="en-US">
                <a:sym typeface="+mn-ea"/>
              </a:rPr>
              <a:t>（结束）报文，客户端进入</a:t>
            </a:r>
            <a:r>
              <a:rPr lang="en-US" altLang="zh-CN">
                <a:sym typeface="+mn-ea"/>
              </a:rPr>
              <a:t>FIN_WAIT_1</a:t>
            </a:r>
            <a:r>
              <a:rPr lang="zh-CN" altLang="en-US">
                <a:sym typeface="+mn-ea"/>
              </a:rPr>
              <a:t>状态，表示不可以发数据但是可以接收</a:t>
            </a:r>
            <a:r>
              <a:rPr lang="zh-CN" altLang="en-US">
                <a:sym typeface="+mn-ea"/>
              </a:rPr>
              <a:t>数据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）第二次挥手（服务端</a:t>
            </a:r>
            <a:r>
              <a:rPr lang="en-US" altLang="zh-CN">
                <a:sym typeface="+mn-ea"/>
              </a:rPr>
              <a:t> &gt; </a:t>
            </a:r>
            <a:r>
              <a:rPr lang="zh-CN" altLang="en-US">
                <a:sym typeface="+mn-ea"/>
              </a:rPr>
              <a:t>客户端）：服务端收到</a:t>
            </a:r>
            <a:r>
              <a:rPr lang="en-US" altLang="zh-CN">
                <a:sym typeface="+mn-ea"/>
              </a:rPr>
              <a:t>FIN</a:t>
            </a:r>
            <a:r>
              <a:rPr lang="zh-CN" altLang="en-US">
                <a:sym typeface="+mn-ea"/>
              </a:rPr>
              <a:t>报文，回复</a:t>
            </a:r>
            <a:r>
              <a:rPr lang="en-US" altLang="zh-CN">
                <a:sym typeface="+mn-ea"/>
              </a:rPr>
              <a:t>ACK</a:t>
            </a:r>
            <a:r>
              <a:rPr lang="zh-CN" altLang="en-US">
                <a:sym typeface="+mn-ea"/>
              </a:rPr>
              <a:t>报文。服务端进入</a:t>
            </a:r>
            <a:r>
              <a:rPr lang="en-US" altLang="zh-CN">
                <a:sym typeface="+mn-ea"/>
              </a:rPr>
              <a:t>CLOSE_WAIT </a:t>
            </a:r>
            <a:r>
              <a:rPr lang="zh-CN" altLang="en-US">
                <a:sym typeface="+mn-ea"/>
              </a:rPr>
              <a:t>状态。客户端收到该确认后进入</a:t>
            </a:r>
            <a:r>
              <a:rPr lang="en-US" altLang="zh-CN">
                <a:sym typeface="+mn-ea"/>
              </a:rPr>
              <a:t> FIN_WAIT_2 </a:t>
            </a:r>
            <a:r>
              <a:rPr lang="zh-CN" altLang="en-US">
                <a:sym typeface="+mn-ea"/>
              </a:rPr>
              <a:t>状态。此时处于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半关闭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状态，如果服务端还有数据没发完，可以继续发送。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r>
              <a:rPr lang="zh-CN" altLang="en-US">
                <a:sym typeface="+mn-ea"/>
              </a:rPr>
              <a:t>第三次挥手（</a:t>
            </a:r>
            <a:r>
              <a:rPr lang="zh-CN" altLang="en-US">
                <a:sym typeface="+mn-ea"/>
              </a:rPr>
              <a:t>服务端</a:t>
            </a:r>
            <a:r>
              <a:rPr lang="en-US" altLang="zh-CN">
                <a:sym typeface="+mn-ea"/>
              </a:rPr>
              <a:t> &gt; </a:t>
            </a:r>
            <a:r>
              <a:rPr lang="zh-CN" altLang="en-US">
                <a:sym typeface="+mn-ea"/>
              </a:rPr>
              <a:t>客户端</a:t>
            </a:r>
            <a:r>
              <a:rPr lang="zh-CN" altLang="en-US">
                <a:sym typeface="+mn-ea"/>
              </a:rPr>
              <a:t>）：服务端数据全部发送完毕，想客户端发送</a:t>
            </a:r>
            <a:r>
              <a:rPr lang="en-US" altLang="zh-CN">
                <a:sym typeface="+mn-ea"/>
              </a:rPr>
              <a:t>FIN</a:t>
            </a:r>
            <a:r>
              <a:rPr lang="zh-CN" altLang="en-US">
                <a:sym typeface="+mn-ea"/>
              </a:rPr>
              <a:t>报文，服务端进入</a:t>
            </a:r>
            <a:r>
              <a:rPr lang="en-US" altLang="zh-CN">
                <a:sym typeface="+mn-ea"/>
              </a:rPr>
              <a:t>LAST_ACK</a:t>
            </a:r>
            <a:r>
              <a:rPr lang="zh-CN" altLang="en-US">
                <a:sym typeface="+mn-ea"/>
              </a:rPr>
              <a:t>状态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）第四次挥手（</a:t>
            </a:r>
            <a:r>
              <a:rPr lang="zh-CN" altLang="en-US">
                <a:sym typeface="+mn-ea"/>
              </a:rPr>
              <a:t>客户端</a:t>
            </a:r>
            <a:r>
              <a:rPr lang="en-US" altLang="zh-CN">
                <a:sym typeface="+mn-ea"/>
              </a:rPr>
              <a:t> &gt; </a:t>
            </a:r>
            <a:r>
              <a:rPr lang="zh-CN" altLang="en-US">
                <a:sym typeface="+mn-ea"/>
              </a:rPr>
              <a:t>服务端</a:t>
            </a:r>
            <a:r>
              <a:rPr lang="zh-CN" altLang="en-US">
                <a:sym typeface="+mn-ea"/>
              </a:rPr>
              <a:t>）：客户端收到</a:t>
            </a:r>
            <a:r>
              <a:rPr lang="en-US" altLang="zh-CN">
                <a:sym typeface="+mn-ea"/>
              </a:rPr>
              <a:t>FIN</a:t>
            </a:r>
            <a:r>
              <a:rPr lang="zh-CN" altLang="en-US">
                <a:sym typeface="+mn-ea"/>
              </a:rPr>
              <a:t>报文，回复</a:t>
            </a:r>
            <a:r>
              <a:rPr lang="en-US" altLang="zh-CN">
                <a:sym typeface="+mn-ea"/>
              </a:rPr>
              <a:t>ACK</a:t>
            </a:r>
            <a:r>
              <a:rPr lang="zh-CN" altLang="en-US">
                <a:sym typeface="+mn-ea"/>
              </a:rPr>
              <a:t>报文，客户端进入</a:t>
            </a:r>
            <a:r>
              <a:rPr lang="en-US" altLang="zh-CN">
                <a:sym typeface="+mn-ea"/>
              </a:rPr>
              <a:t>TIME_WAIT </a:t>
            </a:r>
            <a:r>
              <a:rPr lang="zh-CN" altLang="en-US">
                <a:sym typeface="+mn-ea"/>
              </a:rPr>
              <a:t>状态，服务端收到此</a:t>
            </a:r>
            <a:r>
              <a:rPr lang="en-US" altLang="zh-CN">
                <a:sym typeface="+mn-ea"/>
              </a:rPr>
              <a:t> ACK </a:t>
            </a:r>
            <a:r>
              <a:rPr lang="zh-CN" altLang="en-US">
                <a:sym typeface="+mn-ea"/>
              </a:rPr>
              <a:t>后进入</a:t>
            </a:r>
            <a:r>
              <a:rPr lang="en-US" altLang="zh-CN">
                <a:sym typeface="+mn-ea"/>
              </a:rPr>
              <a:t> CLOSED </a:t>
            </a:r>
            <a:r>
              <a:rPr lang="zh-CN" altLang="en-US">
                <a:sym typeface="+mn-ea"/>
              </a:rPr>
              <a:t>状态，彻底断开连接</a:t>
            </a:r>
            <a:endParaRPr lang="zh-CN" altLang="en-US">
              <a:sym typeface="+mn-ea"/>
            </a:endParaRPr>
          </a:p>
        </p:txBody>
      </p:sp>
      <p:pic>
        <p:nvPicPr>
          <p:cNvPr id="7" name="图片 6" descr="授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应用层协议：</a:t>
            </a:r>
            <a:r>
              <a:rPr lang="en-US" altLang="zh-CN" b="1"/>
              <a:t>MQTT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87960" y="591820"/>
            <a:ext cx="11465560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MQTT</a:t>
            </a:r>
            <a:r>
              <a:rPr lang="zh-CN" altLang="en-US"/>
              <a:t>是一种基于</a:t>
            </a:r>
            <a:r>
              <a:rPr lang="en-US" altLang="zh-CN"/>
              <a:t>TCP/IP</a:t>
            </a:r>
            <a:r>
              <a:rPr lang="zh-CN" altLang="en-US"/>
              <a:t>协议之上的应用层</a:t>
            </a:r>
            <a:r>
              <a:rPr lang="zh-CN" altLang="en-US"/>
              <a:t>协议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HTTP vs </a:t>
            </a:r>
            <a:r>
              <a:rPr lang="en-US" altLang="zh-CN"/>
              <a:t>MQTT</a:t>
            </a:r>
            <a:endParaRPr lang="en-US" altLang="zh-CN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HTTP</a:t>
            </a:r>
            <a:r>
              <a:rPr lang="zh-CN" altLang="en-US"/>
              <a:t>报文非常臃肿，每次发数据都会有一堆信息，而</a:t>
            </a:r>
            <a:r>
              <a:rPr lang="en-US" altLang="zh-CN"/>
              <a:t>MQTT</a:t>
            </a:r>
            <a:r>
              <a:rPr lang="zh-CN" altLang="en-US"/>
              <a:t>的固定报头就只有两字节，对于单片机这</a:t>
            </a:r>
            <a:r>
              <a:rPr lang="en-US" altLang="zh-CN"/>
              <a:t>	</a:t>
            </a:r>
            <a:r>
              <a:rPr lang="zh-CN" altLang="en-US"/>
              <a:t>种内存小，网络带宽窄的设备，</a:t>
            </a:r>
            <a:r>
              <a:rPr lang="en-US" altLang="zh-CN"/>
              <a:t>MQTT</a:t>
            </a:r>
            <a:r>
              <a:rPr lang="zh-CN" altLang="en-US"/>
              <a:t>可以极大减少流量和</a:t>
            </a:r>
            <a:r>
              <a:rPr lang="zh-CN" altLang="en-US"/>
              <a:t>电量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 HTTP </a:t>
            </a:r>
            <a:r>
              <a:rPr lang="zh-CN" altLang="en-US"/>
              <a:t>是</a:t>
            </a:r>
            <a:r>
              <a:rPr lang="en-US" altLang="zh-CN"/>
              <a:t>“</a:t>
            </a:r>
            <a:r>
              <a:rPr lang="zh-CN" altLang="en-US"/>
              <a:t>请求</a:t>
            </a:r>
            <a:r>
              <a:rPr lang="en-US" altLang="zh-CN"/>
              <a:t>-</a:t>
            </a:r>
            <a:r>
              <a:rPr lang="zh-CN" altLang="en-US"/>
              <a:t>响应</a:t>
            </a:r>
            <a:r>
              <a:rPr lang="en-US" altLang="zh-CN"/>
              <a:t>”</a:t>
            </a:r>
            <a:r>
              <a:rPr lang="zh-CN" altLang="en-US"/>
              <a:t>模式，单片机不主动问，服务器就无法发号施令；而</a:t>
            </a:r>
            <a:r>
              <a:rPr lang="en-US" altLang="zh-CN"/>
              <a:t> MQTT </a:t>
            </a:r>
            <a:r>
              <a:rPr lang="zh-CN" altLang="en-US"/>
              <a:t>是长连接，云端可以</a:t>
            </a:r>
            <a:r>
              <a:rPr lang="en-US" altLang="zh-CN"/>
              <a:t>	</a:t>
            </a:r>
            <a:r>
              <a:rPr lang="zh-CN" altLang="en-US"/>
              <a:t>随时随地、极其低延迟地把指令推送到单片机上。</a:t>
            </a:r>
            <a:endParaRPr lang="zh-CN" altLang="en-US"/>
          </a:p>
          <a:p>
            <a:pPr indent="0" fontAlgn="auto"/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MQTT</a:t>
            </a:r>
            <a:r>
              <a:rPr lang="zh-CN" altLang="en-US"/>
              <a:t>核心架构：发布</a:t>
            </a:r>
            <a:r>
              <a:rPr lang="en-US" altLang="zh-CN"/>
              <a:t> / </a:t>
            </a:r>
            <a:r>
              <a:rPr lang="zh-CN" altLang="en-US"/>
              <a:t>订阅模型</a:t>
            </a:r>
            <a:r>
              <a:rPr lang="en-US" altLang="zh-CN"/>
              <a:t> (Pub / Sub)</a:t>
            </a:r>
            <a:r>
              <a:rPr lang="zh-CN" altLang="en-US"/>
              <a:t>【传统的模式是客户端直连</a:t>
            </a:r>
            <a:r>
              <a:rPr lang="zh-CN" altLang="en-US"/>
              <a:t>服务器】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MQTT</a:t>
            </a:r>
            <a:r>
              <a:rPr lang="zh-CN" altLang="en-US"/>
              <a:t>的做法是中间增加一个</a:t>
            </a:r>
            <a:r>
              <a:rPr lang="en-US" altLang="zh-CN"/>
              <a:t>Broker</a:t>
            </a:r>
            <a:r>
              <a:rPr lang="zh-CN" altLang="en-US"/>
              <a:t>（云服务器），通信的双方互不相识，都只与</a:t>
            </a:r>
            <a:r>
              <a:rPr lang="en-US" altLang="zh-CN"/>
              <a:t>Broker</a:t>
            </a:r>
            <a:r>
              <a:rPr lang="zh-CN" altLang="en-US"/>
              <a:t>打交道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Publisher</a:t>
            </a:r>
            <a:r>
              <a:rPr lang="zh-CN" altLang="en-US"/>
              <a:t>作为发布者负责发送数据，</a:t>
            </a:r>
            <a:r>
              <a:rPr lang="en-US" altLang="zh-CN"/>
              <a:t>Subscriber</a:t>
            </a:r>
            <a:r>
              <a:rPr lang="zh-CN" altLang="en-US"/>
              <a:t>作为订阅者只负责接收数据，</a:t>
            </a:r>
            <a:r>
              <a:rPr lang="en-US" altLang="zh-CN"/>
              <a:t>Topic</a:t>
            </a:r>
            <a:r>
              <a:rPr lang="zh-CN" altLang="en-US"/>
              <a:t>作为主题作为消息的</a:t>
            </a:r>
            <a:r>
              <a:rPr lang="zh-CN" altLang="en-US"/>
              <a:t>标签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Broker</a:t>
            </a:r>
            <a:r>
              <a:rPr lang="zh-CN" altLang="en-US"/>
              <a:t>（消息代理中心）：充当整个架构的中央数据总线和路由引擎，负责维持底层的</a:t>
            </a:r>
            <a:r>
              <a:rPr lang="en-US" altLang="zh-CN"/>
              <a:t> TCP </a:t>
            </a:r>
            <a:r>
              <a:rPr lang="zh-CN" altLang="en-US"/>
              <a:t>长连接，</a:t>
            </a:r>
            <a:r>
              <a:rPr lang="en-US" altLang="zh-CN"/>
              <a:t>	</a:t>
            </a:r>
            <a:r>
              <a:rPr lang="zh-CN" altLang="en-US"/>
              <a:t>接收客户端报文、鉴权、过滤并分发所有消息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Topic</a:t>
            </a:r>
            <a:r>
              <a:rPr lang="zh-CN" altLang="en-US"/>
              <a:t>（主题标识）：采用层级结构的</a:t>
            </a:r>
            <a:r>
              <a:rPr lang="en-US" altLang="zh-CN"/>
              <a:t> UTF-8 </a:t>
            </a:r>
            <a:r>
              <a:rPr lang="zh-CN" altLang="en-US"/>
              <a:t>字符串（如</a:t>
            </a:r>
            <a:r>
              <a:rPr lang="en-US" altLang="zh-CN"/>
              <a:t> home/livingroom/temp</a:t>
            </a:r>
            <a:r>
              <a:rPr lang="zh-CN" altLang="en-US"/>
              <a:t>），作为</a:t>
            </a:r>
            <a:r>
              <a:rPr lang="en-US" altLang="zh-CN"/>
              <a:t> Broker </a:t>
            </a:r>
            <a:r>
              <a:rPr lang="zh-CN" altLang="en-US"/>
              <a:t>寻址</a:t>
            </a:r>
            <a:r>
              <a:rPr lang="en-US" altLang="zh-CN"/>
              <a:t>	</a:t>
            </a:r>
            <a:r>
              <a:rPr lang="zh-CN" altLang="en-US"/>
              <a:t>和路由匹配的逻辑通道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Publisher</a:t>
            </a:r>
            <a:r>
              <a:rPr lang="zh-CN" altLang="en-US"/>
              <a:t>（发布者）：边缘硬件节点（如单片机）作为发布者，将采集到的有效数据（如温湿度数据）</a:t>
            </a:r>
            <a:r>
              <a:rPr lang="en-US" altLang="zh-CN"/>
              <a:t>	</a:t>
            </a:r>
            <a:r>
              <a:rPr lang="zh-CN" altLang="en-US"/>
              <a:t>封装进</a:t>
            </a:r>
            <a:r>
              <a:rPr lang="en-US" altLang="zh-CN"/>
              <a:t> MQTT PUBLISH </a:t>
            </a:r>
            <a:r>
              <a:rPr lang="zh-CN" altLang="en-US"/>
              <a:t>报文，并声明目标</a:t>
            </a:r>
            <a:r>
              <a:rPr lang="en-US" altLang="zh-CN"/>
              <a:t> Topic</a:t>
            </a:r>
            <a:r>
              <a:rPr lang="zh-CN" altLang="en-US"/>
              <a:t>，上行推送到</a:t>
            </a:r>
            <a:r>
              <a:rPr lang="en-US" altLang="zh-CN"/>
              <a:t> Broker</a:t>
            </a:r>
            <a:r>
              <a:rPr lang="zh-CN" altLang="en-US"/>
              <a:t>。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en-US" altLang="zh-CN"/>
              <a:t>Subscriber</a:t>
            </a:r>
            <a:r>
              <a:rPr lang="zh-CN" altLang="en-US"/>
              <a:t>（</a:t>
            </a:r>
            <a:r>
              <a:rPr lang="zh-CN" altLang="en-US"/>
              <a:t>订阅者）订阅声明：</a:t>
            </a:r>
            <a:r>
              <a:rPr lang="en-US" altLang="zh-CN"/>
              <a:t> </a:t>
            </a:r>
            <a:r>
              <a:rPr lang="zh-CN" altLang="en-US"/>
              <a:t>监控端（如业务后端或手机</a:t>
            </a:r>
            <a:r>
              <a:rPr lang="en-US" altLang="zh-CN"/>
              <a:t> APP</a:t>
            </a:r>
            <a:r>
              <a:rPr lang="zh-CN" altLang="en-US"/>
              <a:t>）主动向</a:t>
            </a:r>
            <a:r>
              <a:rPr lang="en-US" altLang="zh-CN"/>
              <a:t> Broker </a:t>
            </a:r>
            <a:r>
              <a:rPr lang="zh-CN" altLang="en-US"/>
              <a:t>发送</a:t>
            </a:r>
            <a:r>
              <a:rPr lang="en-US" altLang="zh-CN"/>
              <a:t> 	SUBSCRIBE </a:t>
            </a:r>
            <a:r>
              <a:rPr lang="zh-CN" altLang="en-US"/>
              <a:t>报文，注册并声明自己需要监听的</a:t>
            </a:r>
            <a:r>
              <a:rPr lang="en-US" altLang="zh-CN"/>
              <a:t> Topic </a:t>
            </a:r>
            <a:r>
              <a:rPr lang="zh-CN" altLang="en-US"/>
              <a:t>列表。</a:t>
            </a:r>
            <a:endParaRPr lang="zh-CN" altLang="en-US"/>
          </a:p>
          <a:p>
            <a:pPr indent="457200" fontAlgn="auto"/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</a:t>
            </a:r>
            <a:r>
              <a:rPr lang="en-US" altLang="zh-CN"/>
              <a:t>Broker </a:t>
            </a:r>
            <a:r>
              <a:rPr lang="zh-CN" altLang="en-US"/>
              <a:t>消息路由与分发：</a:t>
            </a:r>
            <a:r>
              <a:rPr lang="en-US" altLang="zh-CN"/>
              <a:t> </a:t>
            </a:r>
            <a:r>
              <a:rPr lang="zh-CN" altLang="en-US"/>
              <a:t>当</a:t>
            </a:r>
            <a:r>
              <a:rPr lang="en-US" altLang="zh-CN"/>
              <a:t> Broker </a:t>
            </a:r>
            <a:r>
              <a:rPr lang="zh-CN" altLang="en-US"/>
              <a:t>接收到来自</a:t>
            </a:r>
            <a:r>
              <a:rPr lang="en-US" altLang="zh-CN"/>
              <a:t> Publisher </a:t>
            </a:r>
            <a:r>
              <a:rPr lang="zh-CN" altLang="en-US"/>
              <a:t>的报文时，会立即检索内部的订阅路由表</a:t>
            </a:r>
            <a:r>
              <a:rPr lang="en-US" altLang="zh-CN"/>
              <a:t>	</a:t>
            </a:r>
            <a:r>
              <a:rPr lang="zh-CN" altLang="en-US"/>
              <a:t>一旦匹配成功，</a:t>
            </a:r>
            <a:r>
              <a:rPr lang="en-US" altLang="zh-CN"/>
              <a:t>Broker </a:t>
            </a:r>
            <a:r>
              <a:rPr lang="zh-CN" altLang="en-US"/>
              <a:t>会将该</a:t>
            </a:r>
            <a:r>
              <a:rPr lang="en-US" altLang="zh-CN"/>
              <a:t> Payload </a:t>
            </a:r>
            <a:r>
              <a:rPr lang="zh-CN" altLang="en-US"/>
              <a:t>通过现有的</a:t>
            </a:r>
            <a:r>
              <a:rPr lang="en-US" altLang="zh-CN"/>
              <a:t> TCP </a:t>
            </a:r>
            <a:r>
              <a:rPr lang="zh-CN" altLang="en-US"/>
              <a:t>通道，异步推送给所有合法订阅了该</a:t>
            </a:r>
            <a:r>
              <a:rPr lang="en-US" altLang="zh-CN"/>
              <a:t> Topic </a:t>
            </a:r>
            <a:r>
              <a:rPr lang="zh-CN" altLang="en-US"/>
              <a:t>的</a:t>
            </a:r>
            <a:r>
              <a:rPr lang="en-US" altLang="zh-CN"/>
              <a:t>	</a:t>
            </a:r>
            <a:r>
              <a:rPr lang="zh-CN" altLang="en-US"/>
              <a:t>客户端。</a:t>
            </a:r>
            <a:endParaRPr lang="zh-CN" altLang="en-US"/>
          </a:p>
          <a:p>
            <a:pPr indent="457200" fontAlgn="auto"/>
            <a:endParaRPr lang="en-US" altLang="zh-CN"/>
          </a:p>
          <a:p>
            <a:pPr indent="457200" fontAlgn="auto"/>
            <a:endParaRPr lang="en-US" altLang="zh-CN"/>
          </a:p>
        </p:txBody>
      </p:sp>
      <p:pic>
        <p:nvPicPr>
          <p:cNvPr id="7" name="图片 6" descr="107410610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应用层协议：</a:t>
            </a:r>
            <a:r>
              <a:rPr lang="en-US" altLang="zh-CN" b="1"/>
              <a:t>MQTT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87960" y="591820"/>
            <a:ext cx="1146556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MQTT</a:t>
            </a:r>
            <a:r>
              <a:rPr lang="zh-CN" altLang="en-US"/>
              <a:t>通信</a:t>
            </a:r>
            <a:r>
              <a:rPr lang="zh-CN" altLang="en-US"/>
              <a:t>全流程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）连接建立：</a:t>
            </a:r>
            <a:r>
              <a:rPr lang="zh-CN" altLang="en-US"/>
              <a:t>设备发送</a:t>
            </a:r>
            <a:r>
              <a:rPr lang="en-US" altLang="zh-CN"/>
              <a:t>CONNECT</a:t>
            </a:r>
            <a:r>
              <a:rPr lang="zh-CN" altLang="en-US"/>
              <a:t>指令给</a:t>
            </a:r>
            <a:r>
              <a:rPr lang="en-US" altLang="zh-CN"/>
              <a:t>Broker</a:t>
            </a:r>
            <a:r>
              <a:rPr lang="zh-CN" altLang="en-US"/>
              <a:t>（</a:t>
            </a:r>
            <a:r>
              <a:rPr lang="en-US" altLang="zh-CN"/>
              <a:t>OneNet</a:t>
            </a:r>
            <a:r>
              <a:rPr lang="zh-CN" altLang="en-US"/>
              <a:t>），</a:t>
            </a:r>
            <a:r>
              <a:rPr lang="en-US" altLang="zh-CN"/>
              <a:t>Broker</a:t>
            </a:r>
            <a:r>
              <a:rPr lang="zh-CN" altLang="en-US"/>
              <a:t>响应</a:t>
            </a:r>
            <a:r>
              <a:rPr lang="en-US" altLang="zh-CN"/>
              <a:t>CONNACK</a:t>
            </a:r>
            <a:r>
              <a:rPr lang="zh-CN" altLang="en-US"/>
              <a:t>报文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）订阅操作：设备发送</a:t>
            </a:r>
            <a:r>
              <a:rPr lang="en-US" altLang="zh-CN"/>
              <a:t>SUBSCRIBE</a:t>
            </a:r>
            <a:r>
              <a:rPr lang="zh-CN" altLang="en-US"/>
              <a:t>报文，告诉</a:t>
            </a:r>
            <a:r>
              <a:rPr lang="en-US" altLang="zh-CN"/>
              <a:t>Broker</a:t>
            </a:r>
            <a:r>
              <a:rPr lang="zh-CN" altLang="en-US"/>
              <a:t>，我要监听</a:t>
            </a:r>
            <a:r>
              <a:rPr lang="en-US" altLang="zh-CN"/>
              <a:t>“</a:t>
            </a:r>
            <a:r>
              <a:rPr lang="zh-CN" altLang="en-US"/>
              <a:t>某某主题，并且要求</a:t>
            </a:r>
            <a:r>
              <a:rPr lang="en-US" altLang="zh-CN"/>
              <a:t>QoS</a:t>
            </a:r>
            <a:r>
              <a:rPr lang="zh-CN" altLang="en-US"/>
              <a:t>等级</a:t>
            </a:r>
            <a:r>
              <a:rPr lang="en-US" altLang="zh-CN"/>
              <a:t>”</a:t>
            </a:r>
            <a:r>
              <a:rPr lang="zh-CN" altLang="en-US"/>
              <a:t>，</a:t>
            </a:r>
            <a:r>
              <a:rPr lang="en-US" altLang="zh-CN"/>
              <a:t>	Broker</a:t>
            </a:r>
            <a:r>
              <a:rPr lang="zh-CN" altLang="en-US"/>
              <a:t>将该设备加入该主题的路由表，并回复</a:t>
            </a:r>
            <a:r>
              <a:rPr lang="en-US" altLang="zh-CN"/>
              <a:t>SUBACK</a:t>
            </a:r>
            <a:endParaRPr lang="en-US" altLang="zh-CN"/>
          </a:p>
          <a:p>
            <a:pPr marL="457200" lvl="1" indent="457200"/>
            <a:r>
              <a:rPr lang="zh-CN" altLang="en-US"/>
              <a:t>【发布操作：设备采集到温湿度，进行封装（如</a:t>
            </a:r>
            <a:r>
              <a:rPr lang="en-US" altLang="zh-CN"/>
              <a:t>JSON</a:t>
            </a:r>
            <a:r>
              <a:rPr lang="zh-CN" altLang="en-US"/>
              <a:t>），构建并发送</a:t>
            </a:r>
            <a:r>
              <a:rPr lang="en-US" altLang="zh-CN"/>
              <a:t>PUBLISH</a:t>
            </a:r>
            <a:r>
              <a:rPr lang="zh-CN" altLang="en-US"/>
              <a:t>报文到某主题下，</a:t>
            </a:r>
            <a:r>
              <a:rPr lang="en-US" altLang="zh-CN"/>
              <a:t>	Broker</a:t>
            </a:r>
            <a:r>
              <a:rPr lang="zh-CN" altLang="en-US"/>
              <a:t>接收到后，在配置的</a:t>
            </a:r>
            <a:r>
              <a:rPr lang="en-US" altLang="zh-CN"/>
              <a:t>QoS</a:t>
            </a:r>
            <a:r>
              <a:rPr lang="zh-CN" altLang="en-US"/>
              <a:t>等级下，恢复设备</a:t>
            </a:r>
            <a:r>
              <a:rPr lang="en-US" altLang="zh-CN"/>
              <a:t>PUBACK</a:t>
            </a:r>
            <a:r>
              <a:rPr lang="zh-CN" altLang="en-US"/>
              <a:t>，随后</a:t>
            </a:r>
            <a:r>
              <a:rPr lang="en-US" altLang="zh-CN"/>
              <a:t>Broker</a:t>
            </a:r>
            <a:r>
              <a:rPr lang="zh-CN" altLang="en-US"/>
              <a:t>会根据内部匹配路由表，将数</a:t>
            </a:r>
            <a:r>
              <a:rPr lang="en-US" altLang="zh-CN"/>
              <a:t>	</a:t>
            </a:r>
            <a:r>
              <a:rPr lang="zh-CN" altLang="en-US"/>
              <a:t>据异步发送给所有订阅了这个主题的</a:t>
            </a:r>
            <a:r>
              <a:rPr lang="zh-CN" altLang="en-US"/>
              <a:t>客户端】</a:t>
            </a:r>
            <a:endParaRPr lang="zh-CN" altLang="en-US"/>
          </a:p>
          <a:p>
            <a:pPr marL="0" lvl="1" indent="457200" fontAlgn="auto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链路保活与心跳：单片机一直没有发送文件，</a:t>
            </a:r>
            <a:r>
              <a:rPr lang="en-US" altLang="zh-CN">
                <a:solidFill>
                  <a:srgbClr val="FF0000"/>
                </a:solidFill>
              </a:rPr>
              <a:t>Broker</a:t>
            </a:r>
            <a:r>
              <a:rPr lang="zh-CN" altLang="en-US">
                <a:solidFill>
                  <a:srgbClr val="FF0000"/>
                </a:solidFill>
              </a:rPr>
              <a:t>需要有能力判断链路是否断链，设备必须再设置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的一个</a:t>
            </a:r>
            <a:r>
              <a:rPr lang="en-US" altLang="zh-CN">
                <a:solidFill>
                  <a:srgbClr val="FF0000"/>
                </a:solidFill>
              </a:rPr>
              <a:t>Keep Alive</a:t>
            </a:r>
            <a:r>
              <a:rPr lang="zh-CN" altLang="en-US">
                <a:solidFill>
                  <a:srgbClr val="FF0000"/>
                </a:solidFill>
              </a:rPr>
              <a:t>时间内，发送一个轻量的</a:t>
            </a:r>
            <a:r>
              <a:rPr lang="en-US" altLang="zh-CN">
                <a:solidFill>
                  <a:srgbClr val="FF0000"/>
                </a:solidFill>
              </a:rPr>
              <a:t>PINREQ</a:t>
            </a:r>
            <a:r>
              <a:rPr lang="zh-CN" altLang="en-US">
                <a:solidFill>
                  <a:srgbClr val="FF0000"/>
                </a:solidFill>
              </a:rPr>
              <a:t>（心跳请求）报文，</a:t>
            </a:r>
            <a:r>
              <a:rPr lang="en-US" altLang="zh-CN">
                <a:solidFill>
                  <a:srgbClr val="FF0000"/>
                </a:solidFill>
              </a:rPr>
              <a:t>Broker</a:t>
            </a:r>
            <a:r>
              <a:rPr lang="zh-CN" altLang="en-US">
                <a:solidFill>
                  <a:srgbClr val="FF0000"/>
                </a:solidFill>
              </a:rPr>
              <a:t>接收到回复</a:t>
            </a:r>
            <a:r>
              <a:rPr lang="en-US" altLang="zh-CN">
                <a:solidFill>
                  <a:srgbClr val="FF0000"/>
                </a:solidFill>
              </a:rPr>
              <a:t>PINGRESP</a:t>
            </a:r>
            <a:r>
              <a:rPr lang="zh-CN" altLang="en-US">
                <a:solidFill>
                  <a:srgbClr val="FF0000"/>
                </a:solidFill>
              </a:rPr>
              <a:t>，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如果</a:t>
            </a:r>
            <a:r>
              <a:rPr lang="en-US" altLang="zh-CN">
                <a:solidFill>
                  <a:srgbClr val="FF0000"/>
                </a:solidFill>
              </a:rPr>
              <a:t>Broker</a:t>
            </a:r>
            <a:r>
              <a:rPr lang="zh-CN" altLang="en-US">
                <a:solidFill>
                  <a:srgbClr val="FF0000"/>
                </a:solidFill>
              </a:rPr>
              <a:t>等待超过</a:t>
            </a:r>
            <a:r>
              <a:rPr lang="en-US" altLang="zh-CN">
                <a:solidFill>
                  <a:srgbClr val="FF0000"/>
                </a:solidFill>
              </a:rPr>
              <a:t>1.5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Keep Alive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的时间未收到设备的任何数据传输，就会判断设备非正常断链，</a:t>
            </a:r>
            <a:r>
              <a:rPr lang="zh-CN" altLang="en-US">
                <a:solidFill>
                  <a:srgbClr val="FF0000"/>
                </a:solidFill>
              </a:rPr>
              <a:t>此时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就会自动触发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遗嘱消息的发布</a:t>
            </a:r>
            <a:endParaRPr lang="zh-CN" altLang="en-US">
              <a:solidFill>
                <a:srgbClr val="FF0000"/>
              </a:solidFill>
            </a:endParaRPr>
          </a:p>
          <a:p>
            <a:pPr marL="0" lvl="1" indent="457200" fontAlgn="auto"/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4</a:t>
            </a:r>
            <a:r>
              <a:rPr lang="zh-CN" altLang="en-US">
                <a:solidFill>
                  <a:srgbClr val="FF0000"/>
                </a:solidFill>
              </a:rPr>
              <a:t>）（</a:t>
            </a:r>
            <a:r>
              <a:rPr lang="zh-CN" altLang="en-US">
                <a:solidFill>
                  <a:srgbClr val="FF0000"/>
                </a:solidFill>
              </a:rPr>
              <a:t>未使用）下线，如果设备准备进入深度睡眠，为了节省资源并避免误触发，设备会主动发送一个</a:t>
            </a:r>
            <a:r>
              <a:rPr lang="en-US" altLang="zh-CN">
                <a:solidFill>
                  <a:srgbClr val="FF0000"/>
                </a:solidFill>
              </a:rPr>
              <a:t>DISCONNECT	</a:t>
            </a:r>
            <a:r>
              <a:rPr lang="zh-CN" altLang="en-US">
                <a:solidFill>
                  <a:srgbClr val="FF0000"/>
                </a:solidFill>
              </a:rPr>
              <a:t>报文，</a:t>
            </a:r>
            <a:r>
              <a:rPr lang="en-US" altLang="zh-CN">
                <a:solidFill>
                  <a:srgbClr val="FF0000"/>
                </a:solidFill>
              </a:rPr>
              <a:t>Broker</a:t>
            </a:r>
            <a:r>
              <a:rPr lang="zh-CN" altLang="en-US">
                <a:solidFill>
                  <a:srgbClr val="FF0000"/>
                </a:solidFill>
              </a:rPr>
              <a:t>接收到这个报文后，主动关闭</a:t>
            </a:r>
            <a:r>
              <a:rPr lang="en-US" altLang="zh-CN">
                <a:solidFill>
                  <a:srgbClr val="FF0000"/>
                </a:solidFill>
              </a:rPr>
              <a:t>TCP</a:t>
            </a:r>
            <a:r>
              <a:rPr lang="zh-CN" altLang="en-US">
                <a:solidFill>
                  <a:srgbClr val="FF0000"/>
                </a:solidFill>
              </a:rPr>
              <a:t>连接，并不触发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遗嘱消息的发布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1" indent="457200" fontAlgn="auto"/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1" indent="457200" fontAlgn="auto"/>
            <a:r>
              <a:rPr lang="zh-CN" altLang="en-US">
                <a:solidFill>
                  <a:srgbClr val="FF0000"/>
                </a:solidFill>
                <a:sym typeface="+mn-ea"/>
              </a:rPr>
              <a:t>【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由于本项目直接使用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固件库，有些操作直接隐藏在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指令中，当发送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AT+MQTTCONN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指令时，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ESP8266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内部已经启动内部定时器，在长时间未发送数据时，会主动发送心跳包，其次关于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QoS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等级，本项目完成的是实时传输传感器数据，故项目采用的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QoS 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等级，并且这条指令在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AT+MQTTPUB=0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中已有体现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】</a:t>
            </a:r>
            <a:endParaRPr lang="zh-CN" altLang="en-US">
              <a:solidFill>
                <a:srgbClr val="FF0000"/>
              </a:solidFill>
            </a:endParaRPr>
          </a:p>
          <a:p>
            <a:pPr indent="0" fontAlgn="auto"/>
            <a:endParaRPr lang="en-US" altLang="zh-CN"/>
          </a:p>
          <a:p>
            <a:pPr indent="0" fontAlgn="auto"/>
            <a:endParaRPr lang="en-US" altLang="zh-CN"/>
          </a:p>
          <a:p>
            <a:pPr indent="457200" fontAlgn="auto"/>
            <a:endParaRPr lang="en-US" altLang="zh-CN"/>
          </a:p>
        </p:txBody>
      </p:sp>
      <p:pic>
        <p:nvPicPr>
          <p:cNvPr id="7" name="图片 6" descr="107410610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60" y="5394960"/>
            <a:ext cx="5462270" cy="8280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92735" y="160655"/>
            <a:ext cx="11670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应用层协议：</a:t>
            </a:r>
            <a:r>
              <a:rPr lang="en-US" altLang="zh-CN" b="1"/>
              <a:t>MQTT</a:t>
            </a:r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87960" y="591820"/>
            <a:ext cx="114655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QoS</a:t>
            </a:r>
            <a:r>
              <a:rPr lang="zh-CN" altLang="en-US"/>
              <a:t>服务质量的</a:t>
            </a:r>
            <a:r>
              <a:rPr lang="zh-CN" altLang="en-US"/>
              <a:t>三个等级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QoS 0</a:t>
            </a:r>
            <a:r>
              <a:rPr lang="zh-CN" altLang="en-US"/>
              <a:t>（最多交付一次）：发送者发完数据就不管了，经常用于及其不重要的数据，例如每秒都传输的传感器数据，丢一两个没有什么问题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QoS 1</a:t>
            </a:r>
            <a:r>
              <a:rPr lang="zh-CN" altLang="en-US"/>
              <a:t>（至少交付一次）：发送者发送完数据，必须接收接收方的</a:t>
            </a:r>
            <a:r>
              <a:rPr lang="en-US" altLang="zh-CN"/>
              <a:t>PUBAK</a:t>
            </a:r>
            <a:r>
              <a:rPr lang="zh-CN" altLang="en-US"/>
              <a:t>报文，如果发送方未收到回复，将会一直发送数据，直到接收方收到数据，通常使用在智能家具的控制指令，可以多开几次指令，但是绝不能按完</a:t>
            </a:r>
            <a:r>
              <a:rPr lang="zh-CN" altLang="en-US"/>
              <a:t>没有反应</a:t>
            </a:r>
            <a:endParaRPr lang="zh-CN" altLang="en-US"/>
          </a:p>
          <a:p>
            <a:pPr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QoS 2</a:t>
            </a:r>
            <a:r>
              <a:rPr lang="zh-CN" altLang="en-US"/>
              <a:t>（只交付一次）：使用四步握手协议（</a:t>
            </a:r>
            <a:r>
              <a:rPr lang="en-US" altLang="zh-CN"/>
              <a:t>PUBLISH -&gt; PUBREC -&gt; PUBREL -&gt; PUBCOMP</a:t>
            </a:r>
            <a:r>
              <a:rPr lang="zh-CN" altLang="en-US"/>
              <a:t>），保证消息既不丢失，也不重复，这种是最安全的也是最慢的，通常使用在金融支付中，不能有两次支付情况（在单片机领域很少使用，太耗费</a:t>
            </a:r>
            <a:r>
              <a:rPr lang="zh-CN" altLang="en-US"/>
              <a:t>系统资源）</a:t>
            </a:r>
            <a:endParaRPr lang="zh-CN" altLang="en-US"/>
          </a:p>
          <a:p>
            <a:pPr indent="457200"/>
            <a:endParaRPr lang="zh-CN" altLang="en-US"/>
          </a:p>
          <a:p>
            <a:pPr indent="0" fontAlgn="auto"/>
            <a:r>
              <a:rPr lang="en-US" altLang="zh-CN" b="1"/>
              <a:t>6</a:t>
            </a:r>
            <a:r>
              <a:rPr lang="zh-CN" altLang="en-US" b="1"/>
              <a:t>、如果</a:t>
            </a:r>
            <a:r>
              <a:rPr lang="en-US" altLang="zh-CN" b="1"/>
              <a:t>ESP8266</a:t>
            </a:r>
            <a:r>
              <a:rPr lang="zh-CN" altLang="en-US" b="1"/>
              <a:t>突然断电，并未给服务器发送下线指令，如何能够立刻知道设备掉线：</a:t>
            </a:r>
            <a:r>
              <a:rPr lang="zh-CN" altLang="en-US" u="sng"/>
              <a:t>使用</a:t>
            </a:r>
            <a:r>
              <a:rPr lang="en-US" altLang="zh-CN" u="sng"/>
              <a:t>MQTT</a:t>
            </a:r>
            <a:r>
              <a:rPr lang="zh-CN" altLang="en-US" u="sng"/>
              <a:t>的遗嘱机制（</a:t>
            </a:r>
            <a:r>
              <a:rPr lang="en-US" altLang="zh-CN" u="sng"/>
              <a:t>LWT</a:t>
            </a:r>
            <a:r>
              <a:rPr lang="zh-CN" altLang="en-US" u="sng"/>
              <a:t>），设备在刚连接</a:t>
            </a:r>
            <a:r>
              <a:rPr lang="en-US" altLang="zh-CN" u="sng"/>
              <a:t>Broker</a:t>
            </a:r>
            <a:r>
              <a:rPr lang="zh-CN" altLang="en-US" u="sng"/>
              <a:t>时，可以在连接报文中顺便提交一封遗嘱，遗嘱内容类似于如果我突然掉线，请在该主题下发送</a:t>
            </a:r>
            <a:r>
              <a:rPr lang="en-US" altLang="zh-CN" u="sng"/>
              <a:t>offline</a:t>
            </a:r>
            <a:r>
              <a:rPr lang="zh-CN" altLang="en-US" u="sng"/>
              <a:t>指令，只要</a:t>
            </a:r>
            <a:r>
              <a:rPr lang="zh-CN" altLang="en-US" u="sng">
                <a:sym typeface="+mn-ea"/>
              </a:rPr>
              <a:t>服务器</a:t>
            </a:r>
            <a:r>
              <a:rPr lang="zh-CN" altLang="en-US" u="sng"/>
              <a:t>检测单片机断开</a:t>
            </a:r>
            <a:r>
              <a:rPr lang="en-US" altLang="zh-CN" u="sng"/>
              <a:t>TCP</a:t>
            </a:r>
            <a:r>
              <a:rPr lang="zh-CN" altLang="en-US" u="sng"/>
              <a:t>连接，</a:t>
            </a:r>
            <a:r>
              <a:rPr lang="zh-CN" altLang="en-US" u="sng">
                <a:sym typeface="+mn-ea"/>
              </a:rPr>
              <a:t>服务器会替代设备将遗嘱发布，订阅了这个主题的设备端就会接收到这个指令，知晓设备断线</a:t>
            </a:r>
            <a:endParaRPr lang="zh-CN" altLang="en-US" u="sng"/>
          </a:p>
          <a:p>
            <a:pPr indent="0" fontAlgn="auto"/>
            <a:endParaRPr lang="en-US" altLang="zh-CN"/>
          </a:p>
          <a:p>
            <a:pPr indent="457200" fontAlgn="auto"/>
            <a:endParaRPr lang="en-US" altLang="zh-CN"/>
          </a:p>
        </p:txBody>
      </p:sp>
      <p:pic>
        <p:nvPicPr>
          <p:cNvPr id="7" name="图片 6" descr="107410610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440" y="166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ESP8266 Wifi</a:t>
            </a:r>
            <a:r>
              <a:rPr lang="zh-CN" altLang="en-US"/>
              <a:t>模块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676275"/>
            <a:ext cx="7397750" cy="1339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205990"/>
            <a:ext cx="6225540" cy="29095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7655" y="3134995"/>
            <a:ext cx="6219190" cy="3219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065" y="1889760"/>
            <a:ext cx="4434205" cy="48240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21345" y="1513840"/>
            <a:ext cx="274764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本项目应该使用的是</a:t>
            </a:r>
            <a:r>
              <a:rPr lang="en-US" altLang="zh-CN" sz="1400"/>
              <a:t>STA</a:t>
            </a:r>
            <a:r>
              <a:rPr lang="zh-CN" altLang="en-US" sz="1400"/>
              <a:t>模式</a:t>
            </a:r>
            <a:endParaRPr lang="zh-CN" altLang="en-US" sz="1400"/>
          </a:p>
        </p:txBody>
      </p:sp>
      <p:sp>
        <p:nvSpPr>
          <p:cNvPr id="10" name="文本框 9"/>
          <p:cNvSpPr txBox="1"/>
          <p:nvPr/>
        </p:nvSpPr>
        <p:spPr>
          <a:xfrm>
            <a:off x="267335" y="5274945"/>
            <a:ext cx="655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在使用之前，需要对</a:t>
            </a:r>
            <a:r>
              <a:rPr lang="en-US" altLang="zh-CN"/>
              <a:t>ESP8266</a:t>
            </a:r>
            <a:r>
              <a:rPr lang="zh-CN" altLang="en-US"/>
              <a:t>进行下载操作，下载</a:t>
            </a:r>
            <a:r>
              <a:rPr lang="en-US" altLang="zh-CN"/>
              <a:t>AT</a:t>
            </a:r>
            <a:r>
              <a:rPr lang="zh-CN" altLang="en-US"/>
              <a:t>固件库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440" y="166370"/>
            <a:ext cx="11790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ESP8266 Wifi</a:t>
            </a:r>
            <a:r>
              <a:rPr lang="zh-CN" altLang="en-US"/>
              <a:t>模块</a:t>
            </a:r>
            <a:r>
              <a:rPr lang="en-US" altLang="zh-CN"/>
              <a:t>(2026.7.17</a:t>
            </a:r>
            <a:r>
              <a:rPr lang="zh-CN" altLang="en-US"/>
              <a:t>创建</a:t>
            </a:r>
            <a:r>
              <a:rPr lang="en-US" altLang="zh-CN"/>
              <a:t>)</a:t>
            </a:r>
            <a:r>
              <a:rPr lang="zh-CN" altLang="en-US"/>
              <a:t>（</a:t>
            </a:r>
            <a:r>
              <a:rPr lang="en-US" altLang="zh-CN"/>
              <a:t>2026.7.21</a:t>
            </a:r>
            <a:r>
              <a:rPr lang="zh-CN" altLang="en-US"/>
              <a:t>补充）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0355" y="733425"/>
            <a:ext cx="116547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在使用之前需要先确保</a:t>
            </a:r>
            <a:r>
              <a:rPr lang="en-US" altLang="zh-CN"/>
              <a:t>ESP8266</a:t>
            </a:r>
            <a:r>
              <a:rPr lang="zh-CN" altLang="en-US"/>
              <a:t>是否安装了</a:t>
            </a:r>
            <a:r>
              <a:rPr lang="en-US" altLang="zh-CN"/>
              <a:t>AT</a:t>
            </a:r>
            <a:r>
              <a:rPr lang="zh-CN" altLang="en-US"/>
              <a:t>固件库（本人购买时基本没发现</a:t>
            </a:r>
            <a:r>
              <a:rPr lang="en-US" altLang="zh-CN"/>
              <a:t>ESP8266</a:t>
            </a:r>
            <a:r>
              <a:rPr lang="zh-CN" altLang="en-US"/>
              <a:t>下载了</a:t>
            </a:r>
            <a:r>
              <a:rPr lang="en-US" altLang="zh-CN"/>
              <a:t>AT</a:t>
            </a:r>
            <a:r>
              <a:rPr lang="zh-CN" altLang="en-US"/>
              <a:t>固件库）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、使用杜邦线、</a:t>
            </a:r>
            <a:r>
              <a:rPr lang="en-US" altLang="zh-CN"/>
              <a:t>USB</a:t>
            </a:r>
            <a:r>
              <a:rPr lang="zh-CN" altLang="en-US"/>
              <a:t>转</a:t>
            </a:r>
            <a:r>
              <a:rPr lang="en-US" altLang="zh-CN"/>
              <a:t>TTL</a:t>
            </a:r>
            <a:r>
              <a:rPr lang="zh-CN" altLang="en-US"/>
              <a:t>、</a:t>
            </a:r>
            <a:r>
              <a:rPr lang="en-US" altLang="zh-CN"/>
              <a:t>ESP8266</a:t>
            </a:r>
            <a:r>
              <a:rPr lang="zh-CN" altLang="en-US"/>
              <a:t>完成</a:t>
            </a:r>
            <a:r>
              <a:rPr lang="zh-CN" altLang="en-US"/>
              <a:t>连线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IO0</a:t>
            </a:r>
            <a:r>
              <a:rPr lang="zh-CN" altLang="en-US"/>
              <a:t>必须接地才能使</a:t>
            </a:r>
            <a:r>
              <a:rPr lang="en-US" altLang="zh-CN"/>
              <a:t>ESP8266</a:t>
            </a:r>
            <a:r>
              <a:rPr lang="zh-CN" altLang="en-US"/>
              <a:t>进入</a:t>
            </a:r>
            <a:r>
              <a:rPr lang="zh-CN" altLang="en-US"/>
              <a:t>烧录模式）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、下载软件使用</a:t>
            </a:r>
            <a:r>
              <a:rPr lang="en-US" altLang="zh-CN"/>
              <a:t>ESP</a:t>
            </a:r>
            <a:r>
              <a:rPr lang="zh-CN" altLang="en-US"/>
              <a:t>公司的</a:t>
            </a:r>
            <a:r>
              <a:rPr lang="zh-CN" altLang="en-US"/>
              <a:t>下载软件</a:t>
            </a:r>
            <a:endParaRPr lang="zh-CN" altLang="en-US"/>
          </a:p>
          <a:p>
            <a:r>
              <a:rPr lang="en-US" altLang="zh-CN"/>
              <a:t>https://www.espressif.com.cn/zh-hans/support/download/other-tools</a:t>
            </a:r>
            <a:endParaRPr lang="en-US" altLang="zh-CN"/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AT</a:t>
            </a:r>
            <a:r>
              <a:rPr lang="zh-CN" altLang="en-US"/>
              <a:t>固件库下载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115" y="1015365"/>
            <a:ext cx="4197985" cy="11893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115" y="2204720"/>
            <a:ext cx="4198620" cy="735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440" y="166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ESP8266 Wifi</a:t>
            </a:r>
            <a:r>
              <a:rPr lang="zh-CN" altLang="en-US"/>
              <a:t>模块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" y="534670"/>
            <a:ext cx="6496050" cy="1695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270" y="0"/>
            <a:ext cx="418973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312400" y="2001520"/>
            <a:ext cx="62928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STA</a:t>
            </a:r>
            <a:endParaRPr lang="en-US" altLang="zh-CN" sz="1200"/>
          </a:p>
        </p:txBody>
      </p:sp>
      <p:sp>
        <p:nvSpPr>
          <p:cNvPr id="8" name="文本框 7"/>
          <p:cNvSpPr txBox="1"/>
          <p:nvPr/>
        </p:nvSpPr>
        <p:spPr>
          <a:xfrm>
            <a:off x="10312400" y="4551045"/>
            <a:ext cx="62928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AP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10389235" y="1171575"/>
            <a:ext cx="17145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/>
              <a:t>1Station</a:t>
            </a:r>
            <a:r>
              <a:rPr lang="zh-CN" altLang="en-US" sz="1200"/>
              <a:t>模式</a:t>
            </a:r>
            <a:endParaRPr lang="zh-CN" altLang="en-US" sz="1200"/>
          </a:p>
          <a:p>
            <a:r>
              <a:rPr lang="en-US" altLang="zh-CN" sz="1200"/>
              <a:t>2 AP</a:t>
            </a:r>
            <a:r>
              <a:rPr lang="zh-CN" altLang="en-US" sz="1200"/>
              <a:t>模式</a:t>
            </a:r>
            <a:r>
              <a:rPr lang="en-US" altLang="zh-CN" sz="1200"/>
              <a:t> </a:t>
            </a:r>
            <a:endParaRPr lang="en-US" altLang="zh-CN" sz="1200"/>
          </a:p>
          <a:p>
            <a:r>
              <a:rPr lang="en-US" altLang="zh-CN" sz="1200"/>
              <a:t>3 AP</a:t>
            </a:r>
            <a:r>
              <a:rPr lang="zh-CN" altLang="en-US" sz="1200"/>
              <a:t>兼</a:t>
            </a:r>
            <a:r>
              <a:rPr lang="en-US" altLang="zh-CN" sz="1200"/>
              <a:t>Station</a:t>
            </a:r>
            <a:r>
              <a:rPr lang="zh-CN" altLang="en-US" sz="1200"/>
              <a:t>模式</a:t>
            </a:r>
            <a:endParaRPr lang="zh-CN" altLang="en-US" sz="1200"/>
          </a:p>
          <a:p>
            <a:r>
              <a:rPr lang="zh-CN" altLang="en-US" sz="1200"/>
              <a:t>例：</a:t>
            </a:r>
            <a:r>
              <a:rPr lang="en-US" altLang="zh-CN" sz="1200"/>
              <a:t>AT+CWMODE=1</a:t>
            </a:r>
            <a:endParaRPr lang="en-US" altLang="zh-CN" sz="12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" y="2481580"/>
            <a:ext cx="6895465" cy="14185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79400" y="39001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</a:rPr>
              <a:t>STA</a:t>
            </a:r>
            <a:r>
              <a:rPr lang="zh-CN" altLang="en-US" sz="1400">
                <a:solidFill>
                  <a:srgbClr val="FF0000"/>
                </a:solidFill>
              </a:rPr>
              <a:t>流程全步骤，本项目全程使用的是</a:t>
            </a:r>
            <a:r>
              <a:rPr lang="en-US" altLang="zh-CN" sz="1400">
                <a:solidFill>
                  <a:srgbClr val="FF0000"/>
                </a:solidFill>
              </a:rPr>
              <a:t>STA</a:t>
            </a:r>
            <a:r>
              <a:rPr lang="zh-CN" altLang="en-US" sz="1400">
                <a:solidFill>
                  <a:srgbClr val="FF0000"/>
                </a:solidFill>
              </a:rPr>
              <a:t>模式，只作为客户端向</a:t>
            </a:r>
            <a:r>
              <a:rPr lang="en-US" altLang="zh-CN" sz="1400">
                <a:solidFill>
                  <a:srgbClr val="FF0000"/>
                </a:solidFill>
              </a:rPr>
              <a:t>OneNet</a:t>
            </a:r>
            <a:r>
              <a:rPr lang="zh-CN" altLang="en-US" sz="1400">
                <a:solidFill>
                  <a:srgbClr val="FF0000"/>
                </a:solidFill>
              </a:rPr>
              <a:t>发送数据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14495" y="3900170"/>
            <a:ext cx="34461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学校的局域网可能屏蔽了某些网络，实验时使用的时手机热点作为无线网络信号</a:t>
            </a:r>
            <a:endParaRPr lang="zh-CN" altLang="en-US" sz="1400"/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010" y="73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OneNet + MQTT</a:t>
            </a:r>
            <a:r>
              <a:rPr lang="zh-CN" altLang="en-US"/>
              <a:t>调试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" y="1087120"/>
            <a:ext cx="4734560" cy="3244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15667"/>
          <a:stretch>
            <a:fillRect/>
          </a:stretch>
        </p:blipFill>
        <p:spPr>
          <a:xfrm>
            <a:off x="4471670" y="3733165"/>
            <a:ext cx="5276850" cy="30727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010" y="441960"/>
            <a:ext cx="121113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单片机与</a:t>
            </a:r>
            <a:r>
              <a:rPr lang="en-US" altLang="zh-CN"/>
              <a:t>OneNet</a:t>
            </a:r>
            <a:r>
              <a:rPr lang="zh-CN" altLang="en-US"/>
              <a:t>的连接流程，这里推荐一个网址：</a:t>
            </a:r>
            <a:r>
              <a:rPr lang="en-US" altLang="zh-CN"/>
              <a:t>https://acode.cc/tools/at_cmd_summon.html</a:t>
            </a:r>
            <a:endParaRPr lang="en-US" altLang="zh-CN"/>
          </a:p>
          <a:p>
            <a:r>
              <a:rPr lang="zh-CN" altLang="en-US"/>
              <a:t>输入参数就能自动生成</a:t>
            </a:r>
            <a:r>
              <a:rPr lang="en-US" altLang="zh-CN"/>
              <a:t>AT</a:t>
            </a:r>
            <a:r>
              <a:rPr lang="zh-CN" altLang="en-US"/>
              <a:t>指令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885" y="1628775"/>
            <a:ext cx="2443480" cy="51771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010" y="73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STM32+</a:t>
            </a:r>
            <a:r>
              <a:rPr lang="en-US" altLang="zh-CN"/>
              <a:t>ESP8266+OneNet 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84785" y="528320"/>
            <a:ext cx="9878695" cy="59785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ESP8266</a:t>
            </a:r>
            <a:r>
              <a:rPr lang="zh-CN" altLang="en-US"/>
              <a:t>初始化</a:t>
            </a:r>
            <a:endParaRPr lang="zh-CN" altLang="en-US"/>
          </a:p>
          <a:p>
            <a:pPr indent="457200" algn="l"/>
            <a:r>
              <a:rPr lang="en-US"/>
              <a:t>(1)AT</a:t>
            </a:r>
            <a:r>
              <a:rPr lang="zh-CN" altLang="en-US"/>
              <a:t>指令连接网络以及连接</a:t>
            </a:r>
            <a:r>
              <a:rPr lang="en-US" altLang="zh-CN"/>
              <a:t>OneNet</a:t>
            </a:r>
            <a:r>
              <a:rPr lang="zh-CN" altLang="en-US"/>
              <a:t>平台</a:t>
            </a:r>
            <a:endParaRPr lang="zh-CN" altLang="en-US"/>
          </a:p>
          <a:p>
            <a:pPr marL="457200" lvl="1" indent="457200" algn="l"/>
            <a:r>
              <a:rPr lang="zh-CN" altLang="en-US"/>
              <a:t>①</a:t>
            </a:r>
            <a:r>
              <a:rPr lang="en-US" altLang="zh-CN"/>
              <a:t>printf("AT+RST\r\n");	//</a:t>
            </a:r>
            <a:r>
              <a:rPr lang="zh-CN" altLang="en-US"/>
              <a:t>重置</a:t>
            </a:r>
            <a:r>
              <a:rPr lang="en-US" altLang="zh-CN"/>
              <a:t>ESP8266</a:t>
            </a:r>
            <a:endParaRPr lang="en-US" altLang="zh-CN"/>
          </a:p>
          <a:p>
            <a:pPr marL="457200" lvl="1" indent="457200" algn="l"/>
            <a:r>
              <a:rPr lang="zh-CN" altLang="en-US">
                <a:sym typeface="+mn-ea"/>
              </a:rPr>
              <a:t>②</a:t>
            </a:r>
            <a:r>
              <a:rPr lang="en-US" altLang="zh-CN">
                <a:sym typeface="+mn-ea"/>
              </a:rPr>
              <a:t>printf("AT+RST")	//</a:t>
            </a:r>
            <a:r>
              <a:rPr lang="zh-CN" altLang="en-US">
                <a:sym typeface="+mn-ea"/>
              </a:rPr>
              <a:t>测试</a:t>
            </a:r>
            <a:endParaRPr lang="zh-CN" altLang="en-US">
              <a:sym typeface="+mn-ea"/>
            </a:endParaRPr>
          </a:p>
          <a:p>
            <a:pPr marL="457200" lvl="1" indent="457200" algn="l"/>
            <a:r>
              <a:rPr lang="zh-CN" altLang="en-US">
                <a:sym typeface="+mn-ea"/>
              </a:rPr>
              <a:t>③</a:t>
            </a:r>
            <a:r>
              <a:rPr lang="en-US" altLang="zh-CN">
                <a:sym typeface="+mn-ea"/>
              </a:rPr>
              <a:t>printf</a:t>
            </a:r>
            <a:r>
              <a:rPr lang="en-US" altLang="zh-CN"/>
              <a:t>("AT+CWMODE=1\r\n");	//</a:t>
            </a:r>
            <a:r>
              <a:rPr lang="zh-CN" altLang="en-US"/>
              <a:t>设置</a:t>
            </a:r>
            <a:r>
              <a:rPr lang="en-US" altLang="zh-CN"/>
              <a:t>ESP8266</a:t>
            </a:r>
            <a:r>
              <a:rPr lang="zh-CN" altLang="en-US"/>
              <a:t>为</a:t>
            </a:r>
            <a:r>
              <a:rPr lang="en-US" altLang="zh-CN"/>
              <a:t>STA</a:t>
            </a:r>
            <a:r>
              <a:rPr lang="zh-CN" altLang="en-US"/>
              <a:t>模式</a:t>
            </a:r>
            <a:endParaRPr lang="en-US" altLang="zh-CN"/>
          </a:p>
          <a:p>
            <a:pPr lvl="1" indent="457200" algn="l"/>
            <a:r>
              <a:rPr lang="zh-CN" altLang="en-US"/>
              <a:t>④</a:t>
            </a:r>
            <a:r>
              <a:rPr lang="en-US" altLang="zh-CN">
                <a:sym typeface="+mn-ea"/>
              </a:rPr>
              <a:t>printf</a:t>
            </a:r>
            <a:r>
              <a:rPr lang="en-US" altLang="zh-CN"/>
              <a:t>("AT+CWJAP=\"zong\",\"</a:t>
            </a:r>
            <a:r>
              <a:rPr lang="en-US" altLang="zh-CN"/>
              <a:t>XXXXXXXX\"\r\n");		//</a:t>
            </a:r>
            <a:r>
              <a:rPr lang="zh-CN" altLang="en-US"/>
              <a:t>连接网络</a:t>
            </a:r>
            <a:endParaRPr lang="en-US" altLang="zh-CN"/>
          </a:p>
          <a:p>
            <a:pPr lvl="1" indent="457200" algn="l"/>
            <a:r>
              <a:rPr lang="zh-CN" altLang="en-US"/>
              <a:t>⑤</a:t>
            </a:r>
            <a:r>
              <a:rPr lang="en-US" altLang="zh-CN"/>
              <a:t>printf("AT+MQTTUSERCFG=0,1,DEVICE_ID,PRODUCT_ID,AUTH_INFO)//</a:t>
            </a:r>
            <a:r>
              <a:rPr lang="zh-CN" altLang="en-US"/>
              <a:t>配置</a:t>
            </a:r>
            <a:r>
              <a:rPr lang="en-US" altLang="zh-CN"/>
              <a:t>	MQTT</a:t>
            </a:r>
            <a:r>
              <a:rPr lang="zh-CN" altLang="en-US"/>
              <a:t>用户信息</a:t>
            </a:r>
            <a:endParaRPr lang="zh-CN" altLang="en-US"/>
          </a:p>
          <a:p>
            <a:pPr lvl="1" indent="457200" algn="l"/>
            <a:r>
              <a:rPr lang="zh-CN" altLang="en-US"/>
              <a:t>⑥</a:t>
            </a:r>
            <a:r>
              <a:rPr lang="en-US" altLang="zh-CN">
                <a:sym typeface="+mn-ea"/>
              </a:rPr>
              <a:t>printf</a:t>
            </a:r>
            <a:r>
              <a:rPr lang="en-US" altLang="zh-CN"/>
              <a:t>(AT+MQTTCONN=0,\"mqtts.heclouds.com\",1883,1\r\n");  //</a:t>
            </a:r>
            <a:r>
              <a:rPr lang="zh-CN" altLang="en-US"/>
              <a:t>连接</a:t>
            </a:r>
            <a:r>
              <a:rPr lang="en-US" altLang="zh-CN"/>
              <a:t>MQTT</a:t>
            </a:r>
            <a:r>
              <a:rPr lang="zh-CN" altLang="en-US"/>
              <a:t>服务器</a:t>
            </a:r>
            <a:endParaRPr lang="zh-CN" altLang="en-US"/>
          </a:p>
          <a:p>
            <a:pPr lvl="1" indent="457200" algn="l"/>
            <a:r>
              <a:rPr lang="zh-CN" altLang="en-US"/>
              <a:t>⑦</a:t>
            </a:r>
            <a:r>
              <a:rPr lang="en-US" altLang="zh-CN"/>
              <a:t>printf("AT+MQTTSUB=0...</a:t>
            </a:r>
            <a:r>
              <a:rPr lang="en-US" altLang="zh-CN">
                <a:sym typeface="+mn-ea"/>
              </a:rPr>
              <a:t>"</a:t>
            </a:r>
            <a:r>
              <a:rPr lang="en-US" altLang="zh-CN"/>
              <a:t>)		//</a:t>
            </a:r>
            <a:r>
              <a:rPr lang="zh-CN" altLang="en-US"/>
              <a:t>订阅数据用于发哦是那个数据</a:t>
            </a:r>
            <a:endParaRPr lang="en-US" altLang="zh-CN"/>
          </a:p>
          <a:p>
            <a:pPr indent="457200" algn="l" fontAlgn="auto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）创建三个队列（第一个用于传感器数据传输，后两个用于控制</a:t>
            </a:r>
            <a:r>
              <a:rPr lang="en-US" altLang="zh-CN"/>
              <a:t>LED</a:t>
            </a:r>
            <a:r>
              <a:rPr lang="zh-CN" altLang="en-US"/>
              <a:t>以及</a:t>
            </a:r>
            <a:r>
              <a:rPr lang="zh-CN" altLang="en-US"/>
              <a:t>水泵）</a:t>
            </a:r>
            <a:endParaRPr lang="zh-CN" altLang="en-US"/>
          </a:p>
          <a:p>
            <a:pPr indent="457200" algn="l" fontAlgn="auto"/>
            <a:endParaRPr lang="zh-CN" altLang="en-US"/>
          </a:p>
          <a:p>
            <a:pPr indent="457200" algn="l" fontAlgn="auto"/>
            <a:endParaRPr lang="zh-CN" altLang="en-US"/>
          </a:p>
          <a:p>
            <a:pPr indent="457200" algn="l" fontAlgn="auto"/>
            <a:endParaRPr lang="zh-CN" altLang="en-US"/>
          </a:p>
          <a:p>
            <a:pPr indent="457200" algn="l" fontAlgn="auto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）开启五个任务</a:t>
            </a:r>
            <a:r>
              <a:rPr lang="en-US" altLang="zh-CN"/>
              <a:t>（</a:t>
            </a:r>
            <a:r>
              <a:rPr lang="zh-CN" altLang="en-US"/>
              <a:t>三个传感器任务以及两个控制任务</a:t>
            </a:r>
            <a:r>
              <a:rPr lang="en-US" altLang="zh-CN"/>
              <a:t>）</a:t>
            </a:r>
            <a:endParaRPr lang="en-US" altLang="zh-CN"/>
          </a:p>
          <a:p>
            <a:pPr indent="0" algn="l" fontAlgn="auto"/>
            <a:r>
              <a:rPr lang="en-US" altLang="zh-CN"/>
              <a:t>4、</a:t>
            </a:r>
            <a:r>
              <a:rPr lang="zh-CN" altLang="en-US"/>
              <a:t>如果初始化未完成</a:t>
            </a:r>
            <a:r>
              <a:rPr lang="en-US" altLang="zh-CN"/>
              <a:t>，</a:t>
            </a:r>
            <a:r>
              <a:rPr lang="zh-CN" altLang="en-US"/>
              <a:t>直接结束</a:t>
            </a:r>
            <a:r>
              <a:rPr lang="en-US" altLang="zh-CN"/>
              <a:t>，</a:t>
            </a:r>
            <a:r>
              <a:rPr lang="zh-CN" altLang="en-US"/>
              <a:t>不需要创建以下几个任务以及</a:t>
            </a:r>
            <a:r>
              <a:rPr lang="zh-CN" altLang="en-US"/>
              <a:t>队列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33563"/>
          <a:stretch>
            <a:fillRect/>
          </a:stretch>
        </p:blipFill>
        <p:spPr>
          <a:xfrm>
            <a:off x="1355090" y="4379595"/>
            <a:ext cx="5454650" cy="6750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440" y="166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Freertos</a:t>
            </a:r>
            <a:r>
              <a:rPr lang="zh-CN" altLang="en-US"/>
              <a:t>进程间通信</a:t>
            </a:r>
            <a:r>
              <a:rPr lang="zh-CN" altLang="en-US"/>
              <a:t>方式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69875" y="609600"/>
            <a:ext cx="11410315" cy="600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一、队列（本项目</a:t>
            </a:r>
            <a:r>
              <a:rPr lang="zh-CN" altLang="en-US"/>
              <a:t>使用）</a:t>
            </a:r>
            <a:endParaRPr lang="zh-CN" altLang="en-US"/>
          </a:p>
          <a:p>
            <a:pPr indent="457200"/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/>
              <a:t>简介：队列是</a:t>
            </a:r>
            <a:r>
              <a:rPr lang="en-US" altLang="zh-CN"/>
              <a:t>FreeRTOS</a:t>
            </a:r>
            <a:r>
              <a:rPr lang="zh-CN" altLang="en-US"/>
              <a:t>中最常用的任务间通信机制。它们可以在任务之间传递消息或数据。队列是</a:t>
            </a:r>
            <a:r>
              <a:rPr lang="en-US" altLang="zh-CN"/>
              <a:t>FIFO</a:t>
            </a:r>
            <a:r>
              <a:rPr lang="zh-CN" altLang="en-US"/>
              <a:t>（先入先出）的数据结构。</a:t>
            </a:r>
            <a:endParaRPr lang="zh-CN" altLang="en-US"/>
          </a:p>
          <a:p>
            <a:pPr indent="457200"/>
            <a:r>
              <a:rPr lang="en-US" altLang="zh-CN"/>
              <a:t>2</a:t>
            </a:r>
            <a:r>
              <a:rPr lang="zh-CN" altLang="en-US"/>
              <a:t>、队列可以包含若干数据，队列中有若干项，这被称为长度，队列中每个数据的大小是</a:t>
            </a:r>
            <a:r>
              <a:rPr lang="zh-CN" altLang="en-US"/>
              <a:t>固定的</a:t>
            </a:r>
            <a:endParaRPr lang="zh-CN" altLang="en-US"/>
          </a:p>
          <a:p>
            <a:pPr indent="457200"/>
            <a:r>
              <a:rPr lang="en-US" altLang="zh-CN"/>
              <a:t>3</a:t>
            </a:r>
            <a:r>
              <a:rPr lang="zh-CN" altLang="en-US"/>
              <a:t>、创建队列时，要指定队列长度以及数据</a:t>
            </a:r>
            <a:r>
              <a:rPr lang="zh-CN" altLang="en-US"/>
              <a:t>大小</a:t>
            </a:r>
            <a:endParaRPr lang="zh-CN" altLang="en-US"/>
          </a:p>
          <a:p>
            <a:pPr indent="457200"/>
            <a:r>
              <a:rPr lang="en-US" altLang="zh-CN"/>
              <a:t>4</a:t>
            </a:r>
            <a:r>
              <a:rPr lang="zh-CN" altLang="en-US"/>
              <a:t>、使用队列的流程：创建队列、写队列、读队列、删除队列（可有</a:t>
            </a:r>
            <a:r>
              <a:rPr lang="zh-CN" altLang="en-US"/>
              <a:t>可无）</a:t>
            </a:r>
            <a:endParaRPr lang="zh-CN" altLang="en-US"/>
          </a:p>
          <a:p>
            <a:pPr indent="457200"/>
            <a:r>
              <a:rPr lang="en-US" altLang="zh-CN"/>
              <a:t>5</a:t>
            </a:r>
            <a:r>
              <a:rPr lang="zh-CN" altLang="en-US"/>
              <a:t>、使用场景：任务间的消息传递（例如传感器数据传递），中断服务</a:t>
            </a:r>
            <a:r>
              <a:rPr lang="zh-CN" altLang="en-US"/>
              <a:t>程</a:t>
            </a:r>
            <a:endParaRPr lang="zh-CN" altLang="en-US"/>
          </a:p>
          <a:p>
            <a:pPr indent="457200"/>
            <a:r>
              <a:rPr lang="zh-CN" altLang="en-US"/>
              <a:t>序</a:t>
            </a:r>
            <a:r>
              <a:rPr lang="zh-CN" altLang="en-US">
                <a:sym typeface="+mn-ea"/>
              </a:rPr>
              <a:t>与任务之间的数据交换</a:t>
            </a:r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olidFill>
                  <a:schemeClr val="accent6"/>
                </a:solidFill>
                <a:sym typeface="+mn-ea"/>
              </a:rPr>
              <a:t>6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、优点：适用于多种任务间通信场景，可以存储多项数据，支持异步消息传递，阻塞非阻塞发送与接收灵活性好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indent="457200"/>
            <a:r>
              <a:rPr lang="en-US" altLang="zh-CN">
                <a:solidFill>
                  <a:schemeClr val="accent6"/>
                </a:solidFill>
                <a:sym typeface="+mn-ea"/>
              </a:rPr>
              <a:t>7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、缺点：内存开销大，长度越长占据内存越大，在高实时性的场合下可能存在一定的延时</a:t>
            </a:r>
            <a:endParaRPr lang="zh-CN" altLang="en-US">
              <a:solidFill>
                <a:schemeClr val="accent6"/>
              </a:solidFill>
              <a:sym typeface="+mn-ea"/>
            </a:endParaRPr>
          </a:p>
          <a:p>
            <a:pPr indent="457200"/>
            <a:endParaRPr lang="zh-CN" altLang="en-US">
              <a:solidFill>
                <a:schemeClr val="accent6"/>
              </a:solidFill>
            </a:endParaRPr>
          </a:p>
          <a:p>
            <a:pPr indent="0" fontAlgn="auto"/>
            <a:r>
              <a:rPr lang="zh-CN" altLang="en-US">
                <a:sym typeface="+mn-ea"/>
              </a:rPr>
              <a:t>二、信号量（本项目曾使用过，用于自动控制灯光以及水泵的开关，土壤过干发送信号量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indent="457200" fontAlgn="auto"/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、简介：</a:t>
            </a:r>
            <a:r>
              <a:rPr lang="zh-CN" altLang="en-US"/>
              <a:t>信号量是一种用于任务间同步的计数器。它有二元信号量（</a:t>
            </a:r>
            <a:r>
              <a:rPr lang="en-US" altLang="zh-CN"/>
              <a:t>binary semaphore</a:t>
            </a:r>
            <a:r>
              <a:rPr lang="zh-CN" altLang="en-US"/>
              <a:t>）和计数信号量（</a:t>
            </a:r>
            <a:r>
              <a:rPr lang="en-US" altLang="zh-CN"/>
              <a:t>counting semaphore</a:t>
            </a:r>
            <a:r>
              <a:rPr lang="zh-CN" altLang="en-US"/>
              <a:t>）两种类型。信号量常用于任务同步或资源共享管理，简单来说，信号量起到一个通知的效果但是不包含</a:t>
            </a:r>
            <a:r>
              <a:rPr lang="zh-CN" altLang="en-US"/>
              <a:t>数据</a:t>
            </a:r>
            <a:endParaRPr lang="zh-CN" altLang="en-US"/>
          </a:p>
          <a:p>
            <a:pPr indent="457200" fontAlgn="auto"/>
            <a:r>
              <a:rPr lang="en-US" altLang="zh-CN"/>
              <a:t>2</a:t>
            </a:r>
            <a:r>
              <a:rPr lang="zh-CN" altLang="en-US"/>
              <a:t>、使用</a:t>
            </a:r>
            <a:r>
              <a:rPr lang="zh-CN" altLang="en-US"/>
              <a:t>场景：任务间的简单同步，例如在一个任务等待另一个任务完成某项操作；控制资源的访问，例如限制特定资源的最大并发访问数量。</a:t>
            </a:r>
            <a:endParaRPr lang="zh-CN" altLang="en-US"/>
          </a:p>
          <a:p>
            <a:pPr indent="457200" fontAlgn="auto"/>
            <a:r>
              <a:rPr lang="en-US" altLang="zh-CN">
                <a:solidFill>
                  <a:schemeClr val="accent6"/>
                </a:solidFill>
              </a:rPr>
              <a:t>3</a:t>
            </a:r>
            <a:r>
              <a:rPr lang="zh-CN" altLang="en-US">
                <a:solidFill>
                  <a:schemeClr val="accent6"/>
                </a:solidFill>
              </a:rPr>
              <a:t>、优点：实现简单，开发方便，不占据过多的内存，适合由于任务之间的同步工具</a:t>
            </a:r>
            <a:endParaRPr lang="zh-CN" altLang="en-US">
              <a:solidFill>
                <a:schemeClr val="accent6"/>
              </a:solidFill>
            </a:endParaRPr>
          </a:p>
          <a:p>
            <a:pPr indent="457200" fontAlgn="auto"/>
            <a:r>
              <a:rPr lang="en-US" altLang="zh-CN">
                <a:solidFill>
                  <a:schemeClr val="accent6"/>
                </a:solidFill>
              </a:rPr>
              <a:t>4</a:t>
            </a:r>
            <a:r>
              <a:rPr lang="zh-CN" altLang="en-US">
                <a:solidFill>
                  <a:schemeClr val="accent6"/>
                </a:solidFill>
              </a:rPr>
              <a:t>、缺点：只能用于同步，无法传输数据</a:t>
            </a:r>
            <a:endParaRPr lang="zh-CN" altLang="en-US">
              <a:solidFill>
                <a:schemeClr val="accent6"/>
              </a:solidFill>
            </a:endParaRPr>
          </a:p>
          <a:p>
            <a:pPr indent="457200" fontAlgn="auto"/>
            <a:endParaRPr lang="zh-CN" altLang="en-US"/>
          </a:p>
          <a:p>
            <a:pPr indent="457200"/>
            <a:endParaRPr lang="zh-CN" altLang="en-US"/>
          </a:p>
          <a:p>
            <a:pPr indent="457200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2610" y="1749425"/>
            <a:ext cx="3237230" cy="1118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440" y="166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Freertos</a:t>
            </a:r>
            <a:r>
              <a:rPr lang="zh-CN" altLang="en-US"/>
              <a:t>进程间通信</a:t>
            </a:r>
            <a:r>
              <a:rPr lang="zh-CN" altLang="en-US"/>
              <a:t>方式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69875" y="609600"/>
            <a:ext cx="11410315" cy="600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三、互斥量（本项目使用，具体内容可见问题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  <a:p>
            <a:pPr indent="457200"/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/>
              <a:t>简介：互斥量是一种特殊的二元信号量，通常用于保护共享资源。互斥量与普通二元信号量的区别在于它具有优先级继承机制，防止优先级反转问题。</a:t>
            </a:r>
            <a:endParaRPr lang="zh-CN" altLang="en-US"/>
          </a:p>
          <a:p>
            <a:pPr indent="457200"/>
            <a:r>
              <a:rPr lang="zh-CN" altLang="en-US"/>
              <a:t>【优先级反转：假设有三个任务（高优先级</a:t>
            </a:r>
            <a:r>
              <a:rPr lang="en-US" altLang="zh-CN"/>
              <a:t>H</a:t>
            </a:r>
            <a:r>
              <a:rPr lang="zh-CN" altLang="en-US"/>
              <a:t>，中优先级</a:t>
            </a:r>
            <a:r>
              <a:rPr lang="en-US" altLang="zh-CN"/>
              <a:t>M</a:t>
            </a:r>
            <a:r>
              <a:rPr lang="zh-CN" altLang="en-US"/>
              <a:t>，低优先级</a:t>
            </a:r>
            <a:r>
              <a:rPr lang="en-US" altLang="zh-CN"/>
              <a:t>L</a:t>
            </a:r>
            <a:r>
              <a:rPr lang="zh-CN" altLang="en-US"/>
              <a:t>），</a:t>
            </a:r>
            <a:r>
              <a:rPr lang="en-US" altLang="zh-CN"/>
              <a:t>L</a:t>
            </a:r>
            <a:r>
              <a:rPr lang="zh-CN" altLang="en-US"/>
              <a:t>拿到</a:t>
            </a:r>
            <a:r>
              <a:rPr lang="en-US" altLang="zh-CN"/>
              <a:t>mutex</a:t>
            </a:r>
            <a:r>
              <a:rPr lang="zh-CN" altLang="en-US"/>
              <a:t>先开始工作，然后</a:t>
            </a:r>
            <a:r>
              <a:rPr lang="en-US" altLang="zh-CN"/>
              <a:t>H</a:t>
            </a:r>
            <a:r>
              <a:rPr lang="zh-CN" altLang="en-US"/>
              <a:t>唤醒，由于</a:t>
            </a:r>
            <a:r>
              <a:rPr lang="en-US" altLang="zh-CN"/>
              <a:t>L</a:t>
            </a:r>
            <a:r>
              <a:rPr lang="zh-CN" altLang="en-US"/>
              <a:t>在工作，无法进入只能等待，此时</a:t>
            </a:r>
            <a:r>
              <a:rPr lang="en-US" altLang="zh-CN"/>
              <a:t>M</a:t>
            </a:r>
            <a:r>
              <a:rPr lang="zh-CN" altLang="en-US"/>
              <a:t>唤醒，他的任务不需要等待</a:t>
            </a:r>
            <a:r>
              <a:rPr lang="en-US" altLang="zh-CN"/>
              <a:t>mutex</a:t>
            </a:r>
            <a:r>
              <a:rPr lang="zh-CN" altLang="en-US"/>
              <a:t>，所以他就会开始工作，由于</a:t>
            </a:r>
            <a:r>
              <a:rPr lang="en-US" altLang="zh-CN"/>
              <a:t>M</a:t>
            </a:r>
            <a:r>
              <a:rPr lang="zh-CN" altLang="en-US"/>
              <a:t>优先级高于</a:t>
            </a:r>
            <a:r>
              <a:rPr lang="en-US" altLang="zh-CN"/>
              <a:t>L</a:t>
            </a:r>
            <a:r>
              <a:rPr lang="zh-CN" altLang="en-US"/>
              <a:t>，</a:t>
            </a:r>
            <a:r>
              <a:rPr lang="en-US" altLang="zh-CN"/>
              <a:t>L</a:t>
            </a:r>
            <a:r>
              <a:rPr lang="zh-CN" altLang="en-US"/>
              <a:t>就一直暂停无法工作，从而倒是</a:t>
            </a:r>
            <a:r>
              <a:rPr lang="en-US" altLang="zh-CN"/>
              <a:t>H</a:t>
            </a:r>
            <a:r>
              <a:rPr lang="zh-CN" altLang="en-US"/>
              <a:t>也无法工作，此时</a:t>
            </a:r>
            <a:r>
              <a:rPr lang="en-US" altLang="zh-CN"/>
              <a:t>M</a:t>
            </a:r>
            <a:r>
              <a:rPr lang="zh-CN" altLang="en-US"/>
              <a:t>的任务会阻塞</a:t>
            </a:r>
            <a:r>
              <a:rPr lang="en-US" altLang="zh-CN"/>
              <a:t>H</a:t>
            </a:r>
            <a:r>
              <a:rPr lang="zh-CN" altLang="en-US"/>
              <a:t>的</a:t>
            </a:r>
            <a:r>
              <a:rPr lang="zh-CN" altLang="en-US"/>
              <a:t>任务】</a:t>
            </a:r>
            <a:endParaRPr lang="zh-CN" altLang="en-US"/>
          </a:p>
          <a:p>
            <a:pPr indent="457200"/>
            <a:r>
              <a:rPr lang="zh-CN" altLang="en-US"/>
              <a:t>【优先级继承机制：当任务使用互斥量时，操作系统</a:t>
            </a:r>
            <a:r>
              <a:rPr lang="zh-CN" altLang="en-US"/>
              <a:t>会进行介入：当</a:t>
            </a:r>
            <a:r>
              <a:rPr lang="en-US" altLang="zh-CN"/>
              <a:t>H</a:t>
            </a:r>
            <a:r>
              <a:rPr lang="zh-CN" altLang="en-US"/>
              <a:t>发现钥匙被</a:t>
            </a:r>
            <a:r>
              <a:rPr lang="en-US" altLang="zh-CN"/>
              <a:t>L</a:t>
            </a:r>
            <a:r>
              <a:rPr lang="zh-CN" altLang="en-US"/>
              <a:t>拿走时，操作系统会临时把</a:t>
            </a:r>
            <a:r>
              <a:rPr lang="en-US" altLang="zh-CN"/>
              <a:t>L</a:t>
            </a:r>
            <a:r>
              <a:rPr lang="zh-CN" altLang="en-US"/>
              <a:t>的优先级强行提升到和</a:t>
            </a:r>
            <a:r>
              <a:rPr lang="en-US" altLang="zh-CN"/>
              <a:t> H </a:t>
            </a:r>
            <a:r>
              <a:rPr lang="zh-CN" altLang="en-US"/>
              <a:t>一样高！这样一来，</a:t>
            </a:r>
            <a:r>
              <a:rPr lang="en-US" altLang="zh-CN"/>
              <a:t>M</a:t>
            </a:r>
            <a:r>
              <a:rPr lang="zh-CN" altLang="en-US"/>
              <a:t>就再也没有资格打断</a:t>
            </a:r>
            <a:r>
              <a:rPr lang="en-US" altLang="zh-CN"/>
              <a:t>L</a:t>
            </a:r>
            <a:r>
              <a:rPr lang="zh-CN" altLang="en-US"/>
              <a:t>了。</a:t>
            </a:r>
            <a:r>
              <a:rPr lang="en-US" altLang="zh-CN"/>
              <a:t>L</a:t>
            </a:r>
            <a:r>
              <a:rPr lang="zh-CN" altLang="en-US"/>
              <a:t>就能以最高优先级迅速办完事，把钥匙还给</a:t>
            </a:r>
            <a:r>
              <a:rPr lang="en-US" altLang="zh-CN"/>
              <a:t>H</a:t>
            </a:r>
            <a:r>
              <a:rPr lang="zh-CN" altLang="en-US"/>
              <a:t>。然后</a:t>
            </a:r>
            <a:r>
              <a:rPr lang="en-US" altLang="zh-CN"/>
              <a:t>L</a:t>
            </a:r>
            <a:r>
              <a:rPr lang="zh-CN" altLang="en-US"/>
              <a:t>的优先级瞬间跌回底层。</a:t>
            </a:r>
            <a:r>
              <a:rPr lang="zh-CN" altLang="en-US"/>
              <a:t>】</a:t>
            </a:r>
            <a:endParaRPr lang="zh-CN" altLang="en-US"/>
          </a:p>
          <a:p>
            <a:pPr indent="457200"/>
            <a:r>
              <a:rPr lang="en-US" altLang="zh-CN"/>
              <a:t>2</a:t>
            </a:r>
            <a:r>
              <a:rPr lang="zh-CN" altLang="en-US"/>
              <a:t>、保护场景：保护共享资源（如全局变量、硬件设备），防止多个任务同时访问导致数据不一致。【本项目使用互斥锁是在</a:t>
            </a:r>
            <a:r>
              <a:rPr lang="en-US" altLang="zh-CN"/>
              <a:t>OLED</a:t>
            </a:r>
            <a:r>
              <a:rPr lang="zh-CN" altLang="en-US"/>
              <a:t>的显示上，由于三个传感器任务都需要刷新</a:t>
            </a:r>
            <a:r>
              <a:rPr lang="en-US" altLang="zh-CN"/>
              <a:t>OLED</a:t>
            </a:r>
            <a:r>
              <a:rPr lang="zh-CN" altLang="en-US"/>
              <a:t>，为了防止</a:t>
            </a:r>
            <a:r>
              <a:rPr lang="en-US" altLang="zh-CN"/>
              <a:t>OLED</a:t>
            </a:r>
            <a:r>
              <a:rPr lang="zh-CN" altLang="en-US"/>
              <a:t>错显示错乱，添加互斥锁，当一个任务正在刷新</a:t>
            </a:r>
            <a:r>
              <a:rPr lang="en-US" altLang="zh-CN"/>
              <a:t>OLED</a:t>
            </a:r>
            <a:r>
              <a:rPr lang="zh-CN" altLang="en-US"/>
              <a:t>，其余任务无法</a:t>
            </a:r>
            <a:r>
              <a:rPr lang="zh-CN" altLang="en-US"/>
              <a:t>刷新】</a:t>
            </a:r>
            <a:endParaRPr lang="zh-CN" altLang="en-US"/>
          </a:p>
          <a:p>
            <a:pPr indent="457200"/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/>
              <a:t>优点：保护共享资源，防止数据竞态；支持优先级继承机制，避免优先级反转。</a:t>
            </a:r>
            <a:endParaRPr lang="zh-CN" altLang="en-US"/>
          </a:p>
          <a:p>
            <a:pPr indent="457200"/>
            <a:r>
              <a:rPr lang="en-US" altLang="zh-CN"/>
              <a:t>4</a:t>
            </a:r>
            <a:r>
              <a:rPr lang="zh-CN" altLang="en-US"/>
              <a:t>、缺点：由于优先级继承的存在，可能导致系统中任务调度的复杂性增加，出现死锁的</a:t>
            </a:r>
            <a:r>
              <a:rPr lang="zh-CN" altLang="en-US"/>
              <a:t>问题</a:t>
            </a:r>
            <a:endParaRPr lang="zh-CN" altLang="en-US"/>
          </a:p>
          <a:p>
            <a:pPr indent="457200"/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zh-CN" altLang="en-US"/>
              <a:t>提问：在使用互斥量时，遇到过死锁吗？什么是死锁，怎么避免？</a:t>
            </a:r>
            <a:endParaRPr lang="zh-CN" altLang="en-US"/>
          </a:p>
          <a:p>
            <a:pPr indent="457200"/>
            <a:r>
              <a:rPr lang="zh-CN" altLang="en-US"/>
              <a:t>答：死锁就是任务互相卡住，谁也动不了，导致整个系统彻底瘫痪。</a:t>
            </a:r>
            <a:endParaRPr lang="en-US" altLang="zh-CN"/>
          </a:p>
          <a:p>
            <a:pPr indent="457200"/>
            <a:r>
              <a:rPr lang="zh-CN" altLang="en-US">
                <a:highlight>
                  <a:srgbClr val="FFFF00"/>
                </a:highlight>
              </a:rPr>
              <a:t>任务</a:t>
            </a:r>
            <a:r>
              <a:rPr lang="en-US" altLang="zh-CN">
                <a:highlight>
                  <a:srgbClr val="FFFF00"/>
                </a:highlight>
              </a:rPr>
              <a:t> 1</a:t>
            </a:r>
            <a:r>
              <a:rPr lang="zh-CN" altLang="en-US">
                <a:highlight>
                  <a:srgbClr val="FFFF00"/>
                </a:highlight>
              </a:rPr>
              <a:t>：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先拿到了锁</a:t>
            </a:r>
            <a:r>
              <a:rPr lang="en-US" altLang="zh-CN">
                <a:highlight>
                  <a:srgbClr val="FFFF00"/>
                </a:highlight>
              </a:rPr>
              <a:t> A</a:t>
            </a:r>
            <a:r>
              <a:rPr lang="zh-CN" altLang="en-US">
                <a:highlight>
                  <a:srgbClr val="FFFF00"/>
                </a:highlight>
              </a:rPr>
              <a:t>。它接下来需要锁</a:t>
            </a:r>
            <a:r>
              <a:rPr lang="en-US" altLang="zh-CN">
                <a:highlight>
                  <a:srgbClr val="FFFF00"/>
                </a:highlight>
              </a:rPr>
              <a:t> B </a:t>
            </a:r>
            <a:r>
              <a:rPr lang="zh-CN" altLang="en-US">
                <a:highlight>
                  <a:srgbClr val="FFFF00"/>
                </a:highlight>
              </a:rPr>
              <a:t>才能完成工作。</a:t>
            </a:r>
            <a:endParaRPr lang="en-US" altLang="zh-CN">
              <a:highlight>
                <a:srgbClr val="FFFF00"/>
              </a:highlight>
            </a:endParaRPr>
          </a:p>
          <a:p>
            <a:pPr indent="457200"/>
            <a:r>
              <a:rPr lang="zh-CN" altLang="en-US">
                <a:highlight>
                  <a:srgbClr val="FFFF00"/>
                </a:highlight>
              </a:rPr>
              <a:t>任务</a:t>
            </a:r>
            <a:r>
              <a:rPr lang="en-US" altLang="zh-CN">
                <a:highlight>
                  <a:srgbClr val="FFFF00"/>
                </a:highlight>
              </a:rPr>
              <a:t> 2</a:t>
            </a:r>
            <a:r>
              <a:rPr lang="zh-CN" altLang="en-US">
                <a:highlight>
                  <a:srgbClr val="FFFF00"/>
                </a:highlight>
              </a:rPr>
              <a:t>：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同时拿到了锁</a:t>
            </a:r>
            <a:r>
              <a:rPr lang="en-US" altLang="zh-CN">
                <a:highlight>
                  <a:srgbClr val="FFFF00"/>
                </a:highlight>
              </a:rPr>
              <a:t> B</a:t>
            </a:r>
            <a:r>
              <a:rPr lang="zh-CN" altLang="en-US">
                <a:highlight>
                  <a:srgbClr val="FFFF00"/>
                </a:highlight>
              </a:rPr>
              <a:t>。它接下来需要锁</a:t>
            </a:r>
            <a:r>
              <a:rPr lang="en-US" altLang="zh-CN">
                <a:highlight>
                  <a:srgbClr val="FFFF00"/>
                </a:highlight>
              </a:rPr>
              <a:t> A </a:t>
            </a:r>
            <a:r>
              <a:rPr lang="zh-CN" altLang="en-US">
                <a:highlight>
                  <a:srgbClr val="FFFF00"/>
                </a:highlight>
              </a:rPr>
              <a:t>才能完成工作。</a:t>
            </a:r>
            <a:endParaRPr lang="en-US" altLang="zh-CN">
              <a:highlight>
                <a:srgbClr val="FFFF00"/>
              </a:highlight>
            </a:endParaRPr>
          </a:p>
          <a:p>
            <a:pPr indent="457200"/>
            <a:r>
              <a:rPr lang="zh-CN" altLang="en-US">
                <a:highlight>
                  <a:srgbClr val="FFFF00"/>
                </a:highlight>
              </a:rPr>
              <a:t>结果：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任务</a:t>
            </a:r>
            <a:r>
              <a:rPr lang="en-US" altLang="zh-CN">
                <a:highlight>
                  <a:srgbClr val="FFFF00"/>
                </a:highlight>
              </a:rPr>
              <a:t> 1 </a:t>
            </a:r>
            <a:r>
              <a:rPr lang="zh-CN" altLang="en-US">
                <a:highlight>
                  <a:srgbClr val="FFFF00"/>
                </a:highlight>
              </a:rPr>
              <a:t>拿着</a:t>
            </a:r>
            <a:r>
              <a:rPr lang="en-US" altLang="zh-CN">
                <a:highlight>
                  <a:srgbClr val="FFFF00"/>
                </a:highlight>
              </a:rPr>
              <a:t> A </a:t>
            </a:r>
            <a:r>
              <a:rPr lang="zh-CN" altLang="en-US">
                <a:highlight>
                  <a:srgbClr val="FFFF00"/>
                </a:highlight>
              </a:rPr>
              <a:t>等</a:t>
            </a:r>
            <a:r>
              <a:rPr lang="en-US" altLang="zh-CN">
                <a:highlight>
                  <a:srgbClr val="FFFF00"/>
                </a:highlight>
              </a:rPr>
              <a:t> B</a:t>
            </a:r>
            <a:r>
              <a:rPr lang="zh-CN" altLang="en-US">
                <a:highlight>
                  <a:srgbClr val="FFFF00"/>
                </a:highlight>
              </a:rPr>
              <a:t>，任务</a:t>
            </a:r>
            <a:r>
              <a:rPr lang="en-US" altLang="zh-CN">
                <a:highlight>
                  <a:srgbClr val="FFFF00"/>
                </a:highlight>
              </a:rPr>
              <a:t> 2 </a:t>
            </a:r>
            <a:r>
              <a:rPr lang="zh-CN" altLang="en-US">
                <a:highlight>
                  <a:srgbClr val="FFFF00"/>
                </a:highlight>
              </a:rPr>
              <a:t>拿着</a:t>
            </a:r>
            <a:r>
              <a:rPr lang="en-US" altLang="zh-CN">
                <a:highlight>
                  <a:srgbClr val="FFFF00"/>
                </a:highlight>
              </a:rPr>
              <a:t> B </a:t>
            </a:r>
            <a:r>
              <a:rPr lang="zh-CN" altLang="en-US">
                <a:highlight>
                  <a:srgbClr val="FFFF00"/>
                </a:highlight>
              </a:rPr>
              <a:t>等</a:t>
            </a:r>
            <a:r>
              <a:rPr lang="en-US" altLang="zh-CN">
                <a:highlight>
                  <a:srgbClr val="FFFF00"/>
                </a:highlight>
              </a:rPr>
              <a:t> A</a:t>
            </a:r>
            <a:r>
              <a:rPr lang="zh-CN" altLang="en-US">
                <a:highlight>
                  <a:srgbClr val="FFFF00"/>
                </a:highlight>
              </a:rPr>
              <a:t>。两个人互相死等，永不退让，系统彻底卡死！</a:t>
            </a:r>
            <a:endParaRPr lang="zh-CN" altLang="en-US">
              <a:highlight>
                <a:srgbClr val="FFFF00"/>
              </a:highlight>
            </a:endParaRPr>
          </a:p>
          <a:p>
            <a:pPr indent="457200"/>
            <a:r>
              <a:rPr lang="zh-CN" altLang="en-US"/>
              <a:t>如何避免：尽量按固定顺序获取锁，设置超时时间，等不到锁就选择报错，避免嵌套</a:t>
            </a:r>
            <a:r>
              <a:rPr lang="zh-CN" altLang="en-US"/>
              <a:t>锁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8440" y="166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Freertos</a:t>
            </a:r>
            <a:r>
              <a:rPr lang="zh-CN" altLang="en-US"/>
              <a:t>进程间通信</a:t>
            </a:r>
            <a:r>
              <a:rPr lang="zh-CN" altLang="en-US"/>
              <a:t>方式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69875" y="609600"/>
            <a:ext cx="11410315" cy="600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四、事件组（未使用</a:t>
            </a:r>
            <a:r>
              <a:rPr lang="zh-CN" altLang="en-US"/>
              <a:t>简单了解）</a:t>
            </a:r>
            <a:endParaRPr lang="zh-CN" altLang="en-US"/>
          </a:p>
          <a:p>
            <a:pPr indent="457200"/>
            <a:r>
              <a:rPr lang="en-US" altLang="zh-CN"/>
              <a:t>1</a:t>
            </a:r>
            <a:r>
              <a:rPr lang="zh-CN" altLang="en-US"/>
              <a:t>、简介：事件组提供了一种通过位标志（</a:t>
            </a:r>
            <a:r>
              <a:rPr lang="en-US" altLang="zh-CN"/>
              <a:t>bit flags</a:t>
            </a:r>
            <a:r>
              <a:rPr lang="zh-CN" altLang="en-US"/>
              <a:t>）管理多个事件的机制。每个事件组包含</a:t>
            </a:r>
            <a:r>
              <a:rPr lang="en-US" altLang="zh-CN"/>
              <a:t>32</a:t>
            </a:r>
            <a:r>
              <a:rPr lang="zh-CN" altLang="en-US"/>
              <a:t>个事件标志，可以同时设置、清除和等待多个标志。</a:t>
            </a:r>
            <a:endParaRPr lang="zh-CN" altLang="en-US"/>
          </a:p>
          <a:p>
            <a:pPr indent="457200"/>
            <a:r>
              <a:rPr lang="en-US" altLang="zh-CN"/>
              <a:t>2</a:t>
            </a:r>
            <a:r>
              <a:rPr lang="zh-CN" altLang="en-US"/>
              <a:t>、使用</a:t>
            </a:r>
            <a:r>
              <a:rPr lang="zh-CN" altLang="en-US"/>
              <a:t>场景：多个任务之间复杂的同步需求，例如等待多个条件（事件）满足后才继续执行。</a:t>
            </a:r>
            <a:endParaRPr lang="zh-CN" altLang="en-US"/>
          </a:p>
          <a:p>
            <a:pPr indent="457200"/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/>
              <a:t>优点：可以通过组合多个事件标志实现复杂的同步逻辑。</a:t>
            </a:r>
            <a:endParaRPr lang="zh-CN" altLang="en-US"/>
          </a:p>
          <a:p>
            <a:pPr indent="457200"/>
            <a:r>
              <a:rPr lang="en-US" altLang="zh-CN"/>
              <a:t>4</a:t>
            </a:r>
            <a:r>
              <a:rPr lang="zh-CN" altLang="en-US"/>
              <a:t>、缺点：事件标志的数量有限（通常为</a:t>
            </a:r>
            <a:r>
              <a:rPr lang="en-US" altLang="zh-CN"/>
              <a:t>32</a:t>
            </a:r>
            <a:r>
              <a:rPr lang="zh-CN" altLang="en-US"/>
              <a:t>位），而且使用难度</a:t>
            </a:r>
            <a:r>
              <a:rPr lang="zh-CN" altLang="en-US"/>
              <a:t>稍微较大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五、任务通知（未使用，</a:t>
            </a:r>
            <a:r>
              <a:rPr lang="zh-CN" altLang="en-US"/>
              <a:t>简单了解）</a:t>
            </a:r>
            <a:endParaRPr lang="zh-CN" altLang="en-US"/>
          </a:p>
          <a:p>
            <a:pPr indent="457200"/>
            <a:r>
              <a:rPr lang="en-US" altLang="zh-CN"/>
              <a:t>1</a:t>
            </a:r>
            <a:r>
              <a:rPr lang="zh-CN" altLang="en-US"/>
              <a:t>、简介：任务通知是</a:t>
            </a:r>
            <a:r>
              <a:rPr lang="en-US" altLang="zh-CN"/>
              <a:t>FreeRTOS</a:t>
            </a:r>
            <a:r>
              <a:rPr lang="zh-CN" altLang="en-US"/>
              <a:t>提供的一种轻量级、快速的任务间通信方式。每个任务都有一个通知值，可以由其他任务或中断来设置、清除或通知。</a:t>
            </a:r>
            <a:endParaRPr lang="zh-CN" altLang="en-US"/>
          </a:p>
          <a:p>
            <a:pPr indent="457200"/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/>
              <a:t>使用场景：在任务间传递简单的状态或信号，替代轻量级的二元信号量或计数信号量。</a:t>
            </a:r>
            <a:endParaRPr lang="zh-CN" altLang="en-US"/>
          </a:p>
          <a:p>
            <a:pPr indent="457200"/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/>
              <a:t>优点：操作非常快且开销低，适用于轻量级通信，每个任务内置了一个通知槽，不需要额外的内存分配。</a:t>
            </a:r>
            <a:endParaRPr lang="zh-CN" altLang="en-US"/>
          </a:p>
          <a:p>
            <a:pPr indent="457200"/>
            <a:r>
              <a:rPr lang="en-US" altLang="zh-CN"/>
              <a:t>4</a:t>
            </a:r>
            <a:r>
              <a:rPr lang="zh-CN" altLang="en-US"/>
              <a:t>、缺点：只能用于任务本身，通知机制只能通过直接通知特定任务来操作，只能存储一个值，不适合复杂的数据传递。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 rot="10800000" flipH="1" flipV="1">
            <a:off x="260350" y="158750"/>
            <a:ext cx="11880850" cy="18796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/>
            <a:r>
              <a:rPr lang="zh-CN" altLang="en-US"/>
              <a:t>第二部分：</a:t>
            </a:r>
            <a:r>
              <a:rPr lang="en-US" altLang="zh-CN"/>
              <a:t>FreeRTOS</a:t>
            </a:r>
            <a:r>
              <a:rPr lang="zh-CN" altLang="en-US"/>
              <a:t>任务</a:t>
            </a:r>
            <a:r>
              <a:rPr lang="zh-CN" altLang="en-US"/>
              <a:t>搭建</a:t>
            </a:r>
            <a:endParaRPr lang="zh-CN" altLang="en-US"/>
          </a:p>
          <a:p>
            <a:pPr algn="l"/>
            <a:r>
              <a:rPr lang="en-US" altLang="zh-CN"/>
              <a:t>1</a:t>
            </a:r>
            <a:r>
              <a:rPr lang="zh-CN" altLang="en-US"/>
              <a:t>、创建多个</a:t>
            </a:r>
            <a:r>
              <a:rPr lang="zh-CN" altLang="en-US"/>
              <a:t>任务</a:t>
            </a:r>
            <a:endParaRPr lang="zh-CN" altLang="en-US"/>
          </a:p>
          <a:p>
            <a:pPr algn="l"/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任务间的队列（队列，信号</a:t>
            </a:r>
            <a:r>
              <a:rPr lang="zh-CN" altLang="en-US">
                <a:sym typeface="+mn-ea"/>
              </a:rPr>
              <a:t>量）</a:t>
            </a:r>
            <a:endParaRPr lang="zh-CN" altLang="en-US">
              <a:sym typeface="+mn-ea"/>
            </a:endParaRPr>
          </a:p>
          <a:p>
            <a:pPr algn="l"/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、软件定时器（未找到使用</a:t>
            </a:r>
            <a:r>
              <a:rPr lang="zh-CN" altLang="en-US">
                <a:sym typeface="+mn-ea"/>
              </a:rPr>
              <a:t>场景）</a:t>
            </a:r>
            <a:endParaRPr lang="zh-CN" altLang="en-US">
              <a:sym typeface="+mn-ea"/>
            </a:endParaRPr>
          </a:p>
          <a:p>
            <a:pPr algn="l"/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9605" y="2161540"/>
            <a:ext cx="2292985" cy="6299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DHT11</a:t>
            </a:r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49605" y="2914650"/>
            <a:ext cx="2292985" cy="6299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BH1750</a:t>
            </a:r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9605" y="3667760"/>
            <a:ext cx="2292985" cy="6299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土壤湿度</a:t>
            </a:r>
            <a:r>
              <a:rPr lang="zh-CN" altLang="en-US"/>
              <a:t>传感器任务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624955" y="2914650"/>
            <a:ext cx="3311525" cy="62992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ESP8266</a:t>
            </a:r>
            <a:r>
              <a:rPr lang="zh-CN" altLang="en-US"/>
              <a:t>数据</a:t>
            </a:r>
            <a:r>
              <a:rPr lang="zh-CN" altLang="en-US"/>
              <a:t>传输任务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49605" y="4665980"/>
            <a:ext cx="2292985" cy="6299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LED</a:t>
            </a:r>
            <a:r>
              <a:rPr lang="zh-CN" altLang="en-US"/>
              <a:t>灯光开</a:t>
            </a:r>
            <a:r>
              <a:rPr lang="zh-CN" altLang="en-US"/>
              <a:t>关任务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9605" y="5467350"/>
            <a:ext cx="2292985" cy="6299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浇灌系统</a:t>
            </a:r>
            <a:r>
              <a:rPr lang="zh-CN" altLang="en-US"/>
              <a:t>开关任务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80105" y="2914650"/>
            <a:ext cx="2882265" cy="62992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xSensorQueue</a:t>
            </a:r>
            <a:r>
              <a:rPr lang="zh-CN" altLang="en-US"/>
              <a:t>队列</a:t>
            </a:r>
            <a:endParaRPr lang="zh-CN" altLang="en-US"/>
          </a:p>
        </p:txBody>
      </p:sp>
      <p:sp>
        <p:nvSpPr>
          <p:cNvPr id="11" name="右大括号 10"/>
          <p:cNvSpPr/>
          <p:nvPr/>
        </p:nvSpPr>
        <p:spPr>
          <a:xfrm>
            <a:off x="3060065" y="2274570"/>
            <a:ext cx="202565" cy="1910715"/>
          </a:xfrm>
          <a:prstGeom prst="rightBrac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stCxn id="9" idx="3"/>
            <a:endCxn id="3" idx="1"/>
          </p:cNvCxnSpPr>
          <p:nvPr/>
        </p:nvCxnSpPr>
        <p:spPr>
          <a:xfrm>
            <a:off x="6262370" y="3229610"/>
            <a:ext cx="3625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10765155" y="5387975"/>
            <a:ext cx="1245870" cy="1367790"/>
            <a:chOff x="16485" y="6824"/>
            <a:chExt cx="1962" cy="2154"/>
          </a:xfrm>
        </p:grpSpPr>
        <p:sp>
          <p:nvSpPr>
            <p:cNvPr id="13" name="矩形 12"/>
            <p:cNvSpPr/>
            <p:nvPr/>
          </p:nvSpPr>
          <p:spPr>
            <a:xfrm>
              <a:off x="16485" y="8397"/>
              <a:ext cx="1962" cy="58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/>
                <a:t>低优先级</a:t>
              </a:r>
              <a:endParaRPr lang="zh-CN" altLang="en-US" sz="12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6485" y="7610"/>
              <a:ext cx="1962" cy="582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/>
                <a:t>中优先级</a:t>
              </a:r>
              <a:endParaRPr lang="zh-CN" altLang="en-US" sz="1200"/>
            </a:p>
          </p:txBody>
        </p:sp>
        <p:sp>
          <p:nvSpPr>
            <p:cNvPr id="15" name="矩形 14"/>
            <p:cNvSpPr/>
            <p:nvPr/>
          </p:nvSpPr>
          <p:spPr>
            <a:xfrm>
              <a:off x="16485" y="6824"/>
              <a:ext cx="1962" cy="581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/>
                <a:t>高优先级</a:t>
              </a:r>
              <a:endParaRPr lang="zh-CN" altLang="en-US" sz="1200"/>
            </a:p>
          </p:txBody>
        </p:sp>
      </p:grpSp>
      <p:sp>
        <p:nvSpPr>
          <p:cNvPr id="17" name="矩形 16"/>
          <p:cNvSpPr/>
          <p:nvPr/>
        </p:nvSpPr>
        <p:spPr>
          <a:xfrm>
            <a:off x="3996690" y="4666615"/>
            <a:ext cx="2882265" cy="62992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x</a:t>
            </a:r>
            <a:r>
              <a:rPr lang="en-US" altLang="zh-CN"/>
              <a:t>LEDQueue</a:t>
            </a:r>
            <a:r>
              <a:rPr lang="zh-CN" altLang="en-US"/>
              <a:t>队列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49605" y="1793240"/>
            <a:ext cx="229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2S </a:t>
            </a:r>
            <a:r>
              <a:rPr lang="zh-CN" altLang="en-US"/>
              <a:t>采集一次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674745" y="2269490"/>
            <a:ext cx="2292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5S </a:t>
            </a:r>
            <a:r>
              <a:rPr lang="zh-CN" altLang="en-US"/>
              <a:t>发送一</a:t>
            </a:r>
            <a:r>
              <a:rPr lang="zh-CN" altLang="en-US"/>
              <a:t>组数据</a:t>
            </a:r>
            <a:endParaRPr lang="zh-CN" altLang="en-US"/>
          </a:p>
          <a:p>
            <a:pPr algn="ctr"/>
            <a:r>
              <a:rPr lang="en-US" altLang="zh-CN"/>
              <a:t>&amp;</a:t>
            </a:r>
            <a:r>
              <a:rPr lang="zh-CN" altLang="en-US"/>
              <a:t>队列</a:t>
            </a:r>
            <a:r>
              <a:rPr lang="zh-CN" altLang="en-US"/>
              <a:t>非空时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12920" y="4185285"/>
            <a:ext cx="2109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阻塞等待队列</a:t>
            </a:r>
            <a:r>
              <a:rPr lang="zh-CN" altLang="en-US"/>
              <a:t>消息</a:t>
            </a:r>
            <a:endParaRPr lang="zh-CN" altLang="en-US"/>
          </a:p>
        </p:txBody>
      </p:sp>
      <p:pic>
        <p:nvPicPr>
          <p:cNvPr id="28" name="图片 27" descr="截屏2026-05-20 15.58.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550" y="1434465"/>
            <a:ext cx="2825115" cy="1356995"/>
          </a:xfrm>
          <a:prstGeom prst="rect">
            <a:avLst/>
          </a:prstGeom>
        </p:spPr>
      </p:pic>
      <p:cxnSp>
        <p:nvCxnSpPr>
          <p:cNvPr id="19" name="肘形连接符 18"/>
          <p:cNvCxnSpPr/>
          <p:nvPr/>
        </p:nvCxnSpPr>
        <p:spPr>
          <a:xfrm rot="10800000" flipH="1" flipV="1">
            <a:off x="588010" y="3229610"/>
            <a:ext cx="3175" cy="1751330"/>
          </a:xfrm>
          <a:prstGeom prst="bentConnector3">
            <a:avLst>
              <a:gd name="adj1" fmla="val -42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/>
          <p:nvPr/>
        </p:nvCxnSpPr>
        <p:spPr>
          <a:xfrm rot="10800000" flipH="1" flipV="1">
            <a:off x="649605" y="3982720"/>
            <a:ext cx="3175" cy="1799590"/>
          </a:xfrm>
          <a:prstGeom prst="bentConnector3">
            <a:avLst>
              <a:gd name="adj1" fmla="val -1354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6830" y="6116955"/>
            <a:ext cx="22320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strike="sngStrike"/>
              <a:t>使用信号量进行交互</a:t>
            </a:r>
            <a:endParaRPr lang="zh-CN" altLang="en-US" sz="1400"/>
          </a:p>
          <a:p>
            <a:r>
              <a:rPr lang="zh-CN" altLang="en-US" sz="1400"/>
              <a:t>（改用使用队列进行</a:t>
            </a:r>
            <a:r>
              <a:rPr lang="zh-CN" altLang="en-US" sz="1400"/>
              <a:t>控制）</a:t>
            </a:r>
            <a:endParaRPr lang="zh-CN" altLang="en-US" sz="1400"/>
          </a:p>
        </p:txBody>
      </p:sp>
      <p:sp>
        <p:nvSpPr>
          <p:cNvPr id="10" name="矩形 9"/>
          <p:cNvSpPr/>
          <p:nvPr/>
        </p:nvSpPr>
        <p:spPr>
          <a:xfrm>
            <a:off x="6624955" y="3639820"/>
            <a:ext cx="3311525" cy="62992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ESP8266</a:t>
            </a:r>
            <a:r>
              <a:rPr lang="zh-CN" altLang="en-US"/>
              <a:t>接收数据并进行</a:t>
            </a:r>
            <a:r>
              <a:rPr lang="zh-CN" altLang="en-US"/>
              <a:t>控制</a:t>
            </a:r>
            <a:endParaRPr lang="zh-CN" altLang="en-US"/>
          </a:p>
        </p:txBody>
      </p:sp>
      <p:cxnSp>
        <p:nvCxnSpPr>
          <p:cNvPr id="33" name="肘形连接符 32"/>
          <p:cNvCxnSpPr>
            <a:stCxn id="10" idx="2"/>
            <a:endCxn id="17" idx="3"/>
          </p:cNvCxnSpPr>
          <p:nvPr/>
        </p:nvCxnSpPr>
        <p:spPr>
          <a:xfrm rot="5400000">
            <a:off x="7224078" y="3924618"/>
            <a:ext cx="711835" cy="14020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996690" y="5467350"/>
            <a:ext cx="2882265" cy="62992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x</a:t>
            </a:r>
            <a:r>
              <a:rPr lang="en-US" altLang="zh-CN"/>
              <a:t>PumpQueue</a:t>
            </a:r>
            <a:r>
              <a:rPr lang="zh-CN" altLang="en-US"/>
              <a:t>队列</a:t>
            </a:r>
            <a:endParaRPr lang="zh-CN" altLang="en-US"/>
          </a:p>
        </p:txBody>
      </p:sp>
      <p:cxnSp>
        <p:nvCxnSpPr>
          <p:cNvPr id="37" name="肘形连接符 36"/>
          <p:cNvCxnSpPr>
            <a:stCxn id="10" idx="2"/>
            <a:endCxn id="34" idx="3"/>
          </p:cNvCxnSpPr>
          <p:nvPr/>
        </p:nvCxnSpPr>
        <p:spPr>
          <a:xfrm rot="5400000">
            <a:off x="6823710" y="4324985"/>
            <a:ext cx="1512570" cy="14020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17" idx="1"/>
            <a:endCxn id="7" idx="3"/>
          </p:cNvCxnSpPr>
          <p:nvPr/>
        </p:nvCxnSpPr>
        <p:spPr>
          <a:xfrm rot="10800000">
            <a:off x="2942590" y="4980305"/>
            <a:ext cx="1054100" cy="31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4" idx="1"/>
            <a:endCxn id="8" idx="3"/>
          </p:cNvCxnSpPr>
          <p:nvPr/>
        </p:nvCxnSpPr>
        <p:spPr>
          <a:xfrm rot="10800000" flipV="1">
            <a:off x="2942590" y="5782310"/>
            <a:ext cx="1054100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878955" y="4679950"/>
            <a:ext cx="1563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光照强度自动控制</a:t>
            </a:r>
            <a:endParaRPr lang="zh-CN" altLang="en-US" sz="1200"/>
          </a:p>
        </p:txBody>
      </p:sp>
      <p:sp>
        <p:nvSpPr>
          <p:cNvPr id="25" name="文本框 24"/>
          <p:cNvSpPr txBox="1"/>
          <p:nvPr/>
        </p:nvSpPr>
        <p:spPr>
          <a:xfrm>
            <a:off x="6878955" y="5509895"/>
            <a:ext cx="1563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湿度自动控制</a:t>
            </a:r>
            <a:endParaRPr lang="zh-CN" altLang="en-US" sz="1200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119380" y="88900"/>
            <a:ext cx="11668125" cy="4179863"/>
            <a:chOff x="652" y="1680"/>
            <a:chExt cx="18375" cy="6602"/>
          </a:xfrm>
        </p:grpSpPr>
        <p:sp>
          <p:nvSpPr>
            <p:cNvPr id="3" name="文本框 2"/>
            <p:cNvSpPr txBox="1"/>
            <p:nvPr/>
          </p:nvSpPr>
          <p:spPr>
            <a:xfrm>
              <a:off x="652" y="1680"/>
              <a:ext cx="7388" cy="2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喷水装置：</a:t>
              </a:r>
              <a:endParaRPr lang="zh-CN" altLang="en-US"/>
            </a:p>
            <a:p>
              <a:r>
                <a:rPr lang="en-US" altLang="zh-CN"/>
                <a:t>1</a:t>
              </a:r>
              <a:r>
                <a:rPr lang="zh-CN" altLang="en-US"/>
                <a:t>、两个</a:t>
              </a:r>
              <a:r>
                <a:rPr lang="zh-CN" altLang="en-US"/>
                <a:t>功能：</a:t>
              </a:r>
              <a:endParaRPr lang="zh-CN" altLang="en-US"/>
            </a:p>
            <a:p>
              <a:r>
                <a:rPr lang="zh-CN" altLang="en-US"/>
                <a:t>（</a:t>
              </a:r>
              <a:r>
                <a:rPr lang="en-US" altLang="zh-CN"/>
                <a:t>1</a:t>
              </a:r>
              <a:r>
                <a:rPr lang="zh-CN" altLang="en-US"/>
                <a:t>）自动调节：当土壤湿度较低时，自动开启喷水</a:t>
              </a:r>
              <a:r>
                <a:rPr lang="zh-CN" altLang="en-US"/>
                <a:t>功能</a:t>
              </a:r>
              <a:endParaRPr lang="zh-CN" altLang="en-US"/>
            </a:p>
            <a:p>
              <a:r>
                <a:rPr lang="zh-CN" altLang="en-US"/>
                <a:t>（</a:t>
              </a:r>
              <a:r>
                <a:rPr lang="en-US" altLang="zh-CN"/>
                <a:t>2</a:t>
              </a:r>
              <a:r>
                <a:rPr lang="zh-CN" altLang="en-US"/>
                <a:t>）手动控制：小程序发送指令，控制喷水</a:t>
              </a:r>
              <a:r>
                <a:rPr lang="zh-CN" altLang="en-US"/>
                <a:t>开关</a:t>
              </a: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64" y="1680"/>
              <a:ext cx="7388" cy="2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照明装置：</a:t>
              </a:r>
              <a:endParaRPr lang="zh-CN" altLang="en-US"/>
            </a:p>
            <a:p>
              <a:r>
                <a:rPr lang="en-US" altLang="zh-CN"/>
                <a:t>1</a:t>
              </a:r>
              <a:r>
                <a:rPr lang="zh-CN" altLang="en-US"/>
                <a:t>、两个</a:t>
              </a:r>
              <a:r>
                <a:rPr lang="zh-CN" altLang="en-US"/>
                <a:t>功能：</a:t>
              </a:r>
              <a:endParaRPr lang="zh-CN" altLang="en-US"/>
            </a:p>
            <a:p>
              <a:r>
                <a:rPr lang="zh-CN" altLang="en-US"/>
                <a:t>（</a:t>
              </a:r>
              <a:r>
                <a:rPr lang="en-US" altLang="zh-CN"/>
                <a:t>1</a:t>
              </a:r>
              <a:r>
                <a:rPr lang="zh-CN" altLang="en-US"/>
                <a:t>）自动调节：当环境光较低时，自动开启</a:t>
              </a:r>
              <a:r>
                <a:rPr lang="zh-CN" altLang="en-US"/>
                <a:t>灯光功能</a:t>
              </a:r>
              <a:endParaRPr lang="zh-CN" altLang="en-US"/>
            </a:p>
            <a:p>
              <a:r>
                <a:rPr lang="zh-CN" altLang="en-US"/>
                <a:t>（</a:t>
              </a:r>
              <a:r>
                <a:rPr lang="en-US" altLang="zh-CN"/>
                <a:t>2</a:t>
              </a:r>
              <a:r>
                <a:rPr lang="zh-CN" altLang="en-US"/>
                <a:t>）手动控制：小程序发送指令，控制</a:t>
              </a:r>
              <a:r>
                <a:rPr lang="zh-CN" altLang="en-US"/>
                <a:t>照明开关</a:t>
              </a:r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710" y="4740"/>
              <a:ext cx="17850" cy="3542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l"/>
              <a:r>
                <a:rPr lang="en-US" altLang="zh-CN"/>
                <a:t>1</a:t>
              </a:r>
              <a:r>
                <a:rPr lang="zh-CN" altLang="en-US"/>
                <a:t>、创建</a:t>
              </a:r>
              <a:r>
                <a:rPr lang="en-US" altLang="zh-CN"/>
                <a:t>Flag</a:t>
              </a:r>
              <a:r>
                <a:rPr lang="zh-CN" altLang="en-US"/>
                <a:t>指令</a:t>
              </a:r>
              <a:endParaRPr lang="zh-CN" altLang="en-US"/>
            </a:p>
            <a:p>
              <a:pPr algn="l"/>
              <a:r>
                <a:rPr lang="zh-CN" altLang="en-US"/>
                <a:t>（</a:t>
              </a:r>
              <a:r>
                <a:rPr lang="en-US" altLang="zh-CN"/>
                <a:t>1</a:t>
              </a:r>
              <a:r>
                <a:rPr lang="zh-CN" altLang="en-US"/>
                <a:t>）自动控制指令：</a:t>
              </a:r>
              <a:r>
                <a:rPr lang="en-US" altLang="zh-CN"/>
                <a:t>Auto_Water_Flag|Auto_Light_Flag</a:t>
              </a:r>
              <a:endParaRPr lang="en-US" altLang="zh-CN"/>
            </a:p>
            <a:p>
              <a:pPr algn="l"/>
              <a:r>
                <a:rPr lang="zh-CN" altLang="en-US"/>
                <a:t>（</a:t>
              </a:r>
              <a:r>
                <a:rPr lang="en-US" altLang="zh-CN"/>
                <a:t>2</a:t>
              </a:r>
              <a:r>
                <a:rPr lang="zh-CN" altLang="en-US"/>
                <a:t>）手动控制指令：</a:t>
              </a:r>
              <a:r>
                <a:rPr lang="en-US" altLang="zh-CN"/>
                <a:t>Manual_Water_Command|Manual_Light_Command</a:t>
              </a:r>
              <a:endParaRPr lang="en-US" altLang="zh-CN"/>
            </a:p>
            <a:p>
              <a:pPr algn="l"/>
              <a:r>
                <a:rPr lang="en-US" altLang="zh-CN"/>
                <a:t>2</a:t>
              </a:r>
              <a:r>
                <a:rPr lang="zh-CN" altLang="en-US"/>
                <a:t>、指令控制逻辑：当</a:t>
              </a:r>
              <a:r>
                <a:rPr lang="en-US" altLang="zh-CN">
                  <a:sym typeface="+mn-ea"/>
                </a:rPr>
                <a:t>Auto_Water_Flag|Auto_Light_Flag</a:t>
              </a:r>
              <a:r>
                <a:rPr lang="zh-CN" altLang="en-US">
                  <a:sym typeface="+mn-ea"/>
                </a:rPr>
                <a:t>为</a:t>
              </a:r>
              <a:r>
                <a:rPr lang="en-US" altLang="zh-CN">
                  <a:sym typeface="+mn-ea"/>
                </a:rPr>
                <a:t>1</a:t>
              </a:r>
              <a:r>
                <a:rPr lang="zh-CN" altLang="en-US">
                  <a:sym typeface="+mn-ea"/>
                </a:rPr>
                <a:t>时，上位机手动控制无法执行该操作，只能关闭自动控制才能进行手动</a:t>
              </a:r>
              <a:r>
                <a:rPr lang="zh-CN" altLang="en-US">
                  <a:sym typeface="+mn-ea"/>
                </a:rPr>
                <a:t>控制</a:t>
              </a:r>
              <a:endParaRPr lang="zh-CN" altLang="en-US">
                <a:sym typeface="+mn-ea"/>
              </a:endParaRPr>
            </a:p>
            <a:p>
              <a:pPr algn="l"/>
              <a:r>
                <a:rPr lang="zh-CN" altLang="en-US">
                  <a:sym typeface="+mn-ea"/>
                </a:rPr>
                <a:t>（</a:t>
              </a:r>
              <a:r>
                <a:rPr lang="en-US" altLang="zh-CN">
                  <a:sym typeface="+mn-ea"/>
                </a:rPr>
                <a:t>1</a:t>
              </a:r>
              <a:r>
                <a:rPr lang="zh-CN" altLang="en-US">
                  <a:sym typeface="+mn-ea"/>
                </a:rPr>
                <a:t>）</a:t>
              </a:r>
              <a:r>
                <a:rPr lang="en-US" altLang="zh-CN">
                  <a:sym typeface="+mn-ea"/>
                </a:rPr>
                <a:t>Bug</a:t>
              </a:r>
              <a:r>
                <a:rPr lang="zh-CN" altLang="en-US">
                  <a:sym typeface="+mn-ea"/>
                </a:rPr>
                <a:t>：最后手动控制设计一个上限时长，避免断连等意外操作导致一直处于灌水</a:t>
              </a:r>
              <a:r>
                <a:rPr lang="zh-CN" altLang="en-US">
                  <a:sym typeface="+mn-ea"/>
                </a:rPr>
                <a:t>状态</a:t>
              </a:r>
              <a:endParaRPr lang="zh-CN" altLang="en-US">
                <a:sym typeface="+mn-ea"/>
              </a:endParaRPr>
            </a:p>
            <a:p>
              <a:pPr algn="l"/>
              <a:r>
                <a:rPr lang="en-US" altLang="zh-CN">
                  <a:sym typeface="+mn-ea"/>
                </a:rPr>
                <a:t>3</a:t>
              </a:r>
              <a:r>
                <a:rPr lang="zh-CN" altLang="en-US">
                  <a:sym typeface="+mn-ea"/>
                </a:rPr>
                <a:t>、数据传输时，他们不需要进入队列，只要在发送之前，临时获取一下他们的状态就行</a:t>
              </a:r>
              <a:endParaRPr lang="zh-CN" altLang="en-US">
                <a:sym typeface="+mn-ea"/>
              </a:endParaRPr>
            </a:p>
            <a:p>
              <a:pPr algn="l"/>
              <a:endParaRPr lang="zh-CN" altLang="en-US"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777" y="4740"/>
              <a:ext cx="15250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这两个任务也需要参与进队列当中，实时将数据情况进行一个</a:t>
              </a:r>
              <a:r>
                <a:rPr lang="zh-CN" altLang="en-US"/>
                <a:t>汇报</a:t>
              </a:r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775" y="4511675"/>
            <a:ext cx="3848100" cy="22879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881880" y="467201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而“状态”是实时的，只要在你要打包发送给云端的那一瞬间，去瞄一眼那些全局变量当前的值是多少，顺手塞进数据包里就行了。</a:t>
            </a:r>
            <a:endParaRPr lang="zh-CN" altLang="en-US" sz="1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r="67588"/>
          <a:stretch>
            <a:fillRect/>
          </a:stretch>
        </p:blipFill>
        <p:spPr>
          <a:xfrm>
            <a:off x="4131945" y="5523230"/>
            <a:ext cx="3170555" cy="12763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2075" y="101600"/>
            <a:ext cx="120269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接收数据时，水泵以及灯光照明的模式（自动控制、手动</a:t>
            </a:r>
            <a:r>
              <a:rPr lang="zh-CN" altLang="en-US"/>
              <a:t>控制）的选择可以直接通过全局变量</a:t>
            </a:r>
            <a:r>
              <a:rPr lang="zh-CN" altLang="en-US"/>
              <a:t>进行控制，还需要创建两条队列，照明的开关以及水泵的打开与否全部由他控制（包括自动模式，将数据直接发送给队列，让其在队列里进行</a:t>
            </a:r>
            <a:r>
              <a:rPr lang="zh-CN" altLang="en-US"/>
              <a:t>数据解析）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1390015"/>
            <a:ext cx="4105275" cy="2905125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4825365" y="1506220"/>
            <a:ext cx="6443980" cy="2673985"/>
            <a:chOff x="7599" y="3722"/>
            <a:chExt cx="10148" cy="4211"/>
          </a:xfrm>
        </p:grpSpPr>
        <p:sp>
          <p:nvSpPr>
            <p:cNvPr id="17" name="矩形 16"/>
            <p:cNvSpPr/>
            <p:nvPr/>
          </p:nvSpPr>
          <p:spPr>
            <a:xfrm>
              <a:off x="11654" y="4295"/>
              <a:ext cx="3388" cy="992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x</a:t>
              </a:r>
              <a:r>
                <a:rPr lang="en-US" altLang="zh-CN"/>
                <a:t>LEDQueue</a:t>
              </a:r>
              <a:r>
                <a:rPr lang="zh-CN" altLang="en-US"/>
                <a:t>队列</a:t>
              </a: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654" y="6411"/>
              <a:ext cx="3388" cy="992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/>
                <a:t>x</a:t>
              </a:r>
              <a:r>
                <a:rPr lang="en-US" altLang="zh-CN"/>
                <a:t>PumpQueue</a:t>
              </a:r>
              <a:r>
                <a:rPr lang="zh-CN" altLang="en-US"/>
                <a:t>队列</a:t>
              </a:r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617" y="3722"/>
              <a:ext cx="2782" cy="2061"/>
              <a:chOff x="8133" y="3761"/>
              <a:chExt cx="2782" cy="2061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8133" y="4830"/>
                <a:ext cx="2782" cy="992"/>
              </a:xfrm>
              <a:prstGeom prst="roundRect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自动控制</a:t>
                </a:r>
                <a:r>
                  <a:rPr lang="zh-CN" altLang="en-US"/>
                  <a:t>灯光</a:t>
                </a:r>
                <a:endParaRPr lang="zh-CN" altLang="en-US"/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8133" y="3761"/>
                <a:ext cx="2782" cy="992"/>
              </a:xfrm>
              <a:prstGeom prst="roundRect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手动控制</a:t>
                </a:r>
                <a:r>
                  <a:rPr lang="zh-CN" altLang="en-US"/>
                  <a:t>灯光</a:t>
                </a:r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7599" y="5881"/>
              <a:ext cx="2782" cy="2052"/>
              <a:chOff x="8133" y="6099"/>
              <a:chExt cx="2782" cy="2052"/>
            </a:xfrm>
          </p:grpSpPr>
          <p:sp>
            <p:nvSpPr>
              <p:cNvPr id="9" name="圆角矩形 8"/>
              <p:cNvSpPr/>
              <p:nvPr/>
            </p:nvSpPr>
            <p:spPr>
              <a:xfrm>
                <a:off x="8133" y="6099"/>
                <a:ext cx="2782" cy="992"/>
              </a:xfrm>
              <a:prstGeom prst="roundRect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手动控制</a:t>
                </a:r>
                <a:r>
                  <a:rPr lang="zh-CN" altLang="en-US"/>
                  <a:t>水泵</a:t>
                </a:r>
                <a:endParaRPr lang="zh-CN" altLang="en-US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8133" y="7159"/>
                <a:ext cx="2782" cy="992"/>
              </a:xfrm>
              <a:prstGeom prst="roundRect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自动控制</a:t>
                </a:r>
                <a:r>
                  <a:rPr lang="zh-CN" altLang="en-US"/>
                  <a:t>水泵</a:t>
                </a:r>
                <a:endParaRPr lang="zh-CN" altLang="en-US"/>
              </a:p>
            </p:txBody>
          </p:sp>
        </p:grpSp>
        <p:sp>
          <p:nvSpPr>
            <p:cNvPr id="11" name="圆角矩形 10"/>
            <p:cNvSpPr/>
            <p:nvPr/>
          </p:nvSpPr>
          <p:spPr>
            <a:xfrm>
              <a:off x="15781" y="4295"/>
              <a:ext cx="1966" cy="99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灯光开</a:t>
              </a:r>
              <a:r>
                <a:rPr lang="en-US" altLang="zh-CN"/>
                <a:t>/</a:t>
              </a:r>
              <a:r>
                <a:rPr lang="zh-CN" altLang="en-US"/>
                <a:t>关</a:t>
              </a:r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781" y="6411"/>
              <a:ext cx="1966" cy="99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/>
                <a:t>水泵开</a:t>
              </a:r>
              <a:r>
                <a:rPr lang="en-US" altLang="zh-CN"/>
                <a:t>/</a:t>
              </a:r>
              <a:r>
                <a:rPr lang="zh-CN" altLang="en-US"/>
                <a:t>关</a:t>
              </a:r>
              <a:endParaRPr lang="zh-CN" altLang="en-US"/>
            </a:p>
          </p:txBody>
        </p:sp>
        <p:cxnSp>
          <p:nvCxnSpPr>
            <p:cNvPr id="13" name="直接箭头连接符 12"/>
            <p:cNvCxnSpPr>
              <a:stCxn id="17" idx="3"/>
              <a:endCxn id="11" idx="1"/>
            </p:cNvCxnSpPr>
            <p:nvPr/>
          </p:nvCxnSpPr>
          <p:spPr>
            <a:xfrm>
              <a:off x="15042" y="4791"/>
              <a:ext cx="73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stCxn id="6" idx="3"/>
              <a:endCxn id="12" idx="1"/>
            </p:cNvCxnSpPr>
            <p:nvPr/>
          </p:nvCxnSpPr>
          <p:spPr>
            <a:xfrm>
              <a:off x="15042" y="6907"/>
              <a:ext cx="73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10384" y="4753"/>
              <a:ext cx="1283" cy="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10402" y="6894"/>
              <a:ext cx="1265" cy="1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0444" y="4163"/>
              <a:ext cx="121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发送开</a:t>
              </a:r>
              <a:r>
                <a:rPr lang="en-US" altLang="zh-CN" sz="1000"/>
                <a:t>/</a:t>
              </a:r>
              <a:r>
                <a:rPr lang="zh-CN" altLang="en-US" sz="1000"/>
                <a:t>关指令</a:t>
              </a:r>
              <a:endParaRPr lang="zh-CN" altLang="en-US" sz="10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444" y="6245"/>
              <a:ext cx="121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发送开</a:t>
              </a:r>
              <a:r>
                <a:rPr lang="en-US" altLang="zh-CN" sz="1000"/>
                <a:t>/</a:t>
              </a:r>
              <a:r>
                <a:rPr lang="zh-CN" altLang="en-US" sz="1000"/>
                <a:t>关指令</a:t>
              </a:r>
              <a:endParaRPr lang="zh-CN" altLang="en-US" sz="1000"/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655" y="5156200"/>
            <a:ext cx="2218055" cy="140271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965" y="5060950"/>
            <a:ext cx="3637915" cy="14846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0" y="5278755"/>
            <a:ext cx="4525010" cy="115760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5" name="文本框 24"/>
          <p:cNvSpPr txBox="1"/>
          <p:nvPr/>
        </p:nvSpPr>
        <p:spPr>
          <a:xfrm>
            <a:off x="3679825" y="6037580"/>
            <a:ext cx="76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手动</a:t>
            </a:r>
            <a:r>
              <a:rPr lang="zh-CN" altLang="en-US" sz="1000"/>
              <a:t>模式</a:t>
            </a:r>
            <a:endParaRPr lang="zh-CN" altLang="en-US" sz="1000"/>
          </a:p>
        </p:txBody>
      </p:sp>
      <p:sp>
        <p:nvSpPr>
          <p:cNvPr id="26" name="文本框 25"/>
          <p:cNvSpPr txBox="1"/>
          <p:nvPr/>
        </p:nvSpPr>
        <p:spPr>
          <a:xfrm>
            <a:off x="6320790" y="5939790"/>
            <a:ext cx="768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自动模式</a:t>
            </a:r>
            <a:endParaRPr lang="zh-CN" altLang="en-US" sz="1000"/>
          </a:p>
        </p:txBody>
      </p:sp>
      <p:sp>
        <p:nvSpPr>
          <p:cNvPr id="27" name="矩形 26"/>
          <p:cNvSpPr/>
          <p:nvPr/>
        </p:nvSpPr>
        <p:spPr>
          <a:xfrm>
            <a:off x="501015" y="6109335"/>
            <a:ext cx="2237740" cy="1841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5408930" y="5690870"/>
            <a:ext cx="1732280" cy="1384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420995" y="6220460"/>
            <a:ext cx="1732280" cy="1384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0118725" y="6191250"/>
            <a:ext cx="15824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Driver_Light</a:t>
            </a:r>
            <a:r>
              <a:rPr lang="zh-CN" altLang="en-US" sz="1000"/>
              <a:t>任务</a:t>
            </a:r>
            <a:r>
              <a:rPr lang="zh-CN" altLang="en-US" sz="1000"/>
              <a:t>解析</a:t>
            </a:r>
            <a:endParaRPr lang="zh-CN" altLang="en-US" sz="1000"/>
          </a:p>
        </p:txBody>
      </p:sp>
      <p:sp>
        <p:nvSpPr>
          <p:cNvPr id="31" name="矩形 30"/>
          <p:cNvSpPr/>
          <p:nvPr/>
        </p:nvSpPr>
        <p:spPr>
          <a:xfrm>
            <a:off x="8228965" y="5060950"/>
            <a:ext cx="3637915" cy="1384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、当三个任务同时运行时，</a:t>
            </a:r>
            <a:r>
              <a:rPr lang="en-US" altLang="zh-CN">
                <a:solidFill>
                  <a:srgbClr val="FF0000"/>
                </a:solidFill>
              </a:rPr>
              <a:t>DHT11</a:t>
            </a:r>
            <a:r>
              <a:rPr lang="zh-CN" altLang="en-US">
                <a:solidFill>
                  <a:srgbClr val="FF0000"/>
                </a:solidFill>
              </a:rPr>
              <a:t>很容易报错出现</a:t>
            </a:r>
            <a:r>
              <a:rPr lang="en-US" altLang="zh-CN">
                <a:solidFill>
                  <a:srgbClr val="FF0000"/>
                </a:solidFill>
              </a:rPr>
              <a:t>error</a:t>
            </a:r>
            <a:r>
              <a:rPr lang="zh-CN" altLang="en-US">
                <a:solidFill>
                  <a:srgbClr val="FF0000"/>
                </a:solidFill>
              </a:rPr>
              <a:t>问题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原因：</a:t>
            </a:r>
            <a:r>
              <a:rPr lang="en-US" altLang="zh-CN">
                <a:solidFill>
                  <a:srgbClr val="FFC000"/>
                </a:solidFill>
              </a:rPr>
              <a:t>DHT11</a:t>
            </a:r>
            <a:r>
              <a:rPr lang="zh-CN" altLang="en-US">
                <a:solidFill>
                  <a:srgbClr val="FFC000"/>
                </a:solidFill>
              </a:rPr>
              <a:t>在读取电位高低电平的时候，很有可能会由于任务调度器切换任务而导致错过高低电平的读取，从而导致无法正确获取数据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92D050"/>
                </a:solidFill>
              </a:rPr>
              <a:t>解决方案：采用停止调度器和开启调度器的方法解决这个问题，当主控在读取</a:t>
            </a:r>
            <a:r>
              <a:rPr lang="en-US" altLang="zh-CN">
                <a:solidFill>
                  <a:srgbClr val="92D050"/>
                </a:solidFill>
              </a:rPr>
              <a:t>DHT11</a:t>
            </a:r>
            <a:r>
              <a:rPr lang="zh-CN" altLang="en-US">
                <a:solidFill>
                  <a:srgbClr val="92D050"/>
                </a:solidFill>
              </a:rPr>
              <a:t>传感器前，先暂停任务调度器，此时任务无法被切换，等读取任务结束后，再重新开启任务调度器，这样就可以完美解决任务会在读取高低电平时切换的问题</a:t>
            </a:r>
            <a:r>
              <a:rPr lang="zh-CN" altLang="en-US">
                <a:solidFill>
                  <a:srgbClr val="92D050"/>
                </a:solidFill>
              </a:rPr>
              <a:t>了。</a:t>
            </a:r>
            <a:endParaRPr lang="zh-CN" altLang="en-US">
              <a:solidFill>
                <a:srgbClr val="92D05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4185" y="2362835"/>
            <a:ext cx="5278755" cy="2914650"/>
            <a:chOff x="730" y="3251"/>
            <a:chExt cx="8313" cy="459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0" y="3251"/>
              <a:ext cx="6855" cy="459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2066" y="4845"/>
              <a:ext cx="3071" cy="376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7" name="矩形 6"/>
            <p:cNvSpPr/>
            <p:nvPr/>
          </p:nvSpPr>
          <p:spPr>
            <a:xfrm>
              <a:off x="2066" y="5525"/>
              <a:ext cx="3071" cy="376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137" y="4738"/>
              <a:ext cx="390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关闭调度器</a:t>
              </a:r>
              <a:endParaRPr lang="zh-CN" altLang="en-US" sz="140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137" y="5421"/>
              <a:ext cx="390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开启调度器</a:t>
              </a:r>
              <a:endParaRPr lang="zh-CN" altLang="en-US" sz="1400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045" y="2241550"/>
            <a:ext cx="6521450" cy="3498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、三个任务都可能同时操作</a:t>
            </a:r>
            <a:r>
              <a:rPr lang="en-US" altLang="zh-CN">
                <a:solidFill>
                  <a:srgbClr val="FF0000"/>
                </a:solidFill>
              </a:rPr>
              <a:t>OLED</a:t>
            </a:r>
            <a:r>
              <a:rPr lang="zh-CN" altLang="en-US">
                <a:solidFill>
                  <a:srgbClr val="FF0000"/>
                </a:solidFill>
              </a:rPr>
              <a:t>，可能导致显示错乱（严重情况下导致系统直接</a:t>
            </a:r>
            <a:r>
              <a:rPr lang="zh-CN" altLang="en-US">
                <a:solidFill>
                  <a:srgbClr val="FF0000"/>
                </a:solidFill>
              </a:rPr>
              <a:t>卡死）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原因：</a:t>
            </a:r>
            <a:r>
              <a:rPr lang="en-US" altLang="zh-CN">
                <a:solidFill>
                  <a:srgbClr val="FFC000"/>
                </a:solidFill>
              </a:rPr>
              <a:t>OLED</a:t>
            </a:r>
            <a:r>
              <a:rPr lang="zh-CN" altLang="en-US">
                <a:solidFill>
                  <a:srgbClr val="FFC000"/>
                </a:solidFill>
              </a:rPr>
              <a:t>都会使用</a:t>
            </a:r>
            <a:r>
              <a:rPr lang="en-US" altLang="zh-CN">
                <a:solidFill>
                  <a:srgbClr val="FFC000"/>
                </a:solidFill>
              </a:rPr>
              <a:t>I2C</a:t>
            </a:r>
            <a:r>
              <a:rPr lang="zh-CN" altLang="en-US">
                <a:solidFill>
                  <a:srgbClr val="FFC000"/>
                </a:solidFill>
              </a:rPr>
              <a:t>通讯协议，并且还有使用</a:t>
            </a:r>
            <a:r>
              <a:rPr lang="en-US" altLang="zh-CN">
                <a:solidFill>
                  <a:srgbClr val="FFC000"/>
                </a:solidFill>
              </a:rPr>
              <a:t>BH1750</a:t>
            </a:r>
            <a:r>
              <a:rPr lang="zh-CN" altLang="en-US">
                <a:solidFill>
                  <a:srgbClr val="FFC000"/>
                </a:solidFill>
              </a:rPr>
              <a:t>，可能会互相</a:t>
            </a:r>
            <a:r>
              <a:rPr lang="zh-CN" altLang="en-US">
                <a:solidFill>
                  <a:srgbClr val="FFC000"/>
                </a:solidFill>
              </a:rPr>
              <a:t>干扰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92D050"/>
                </a:solidFill>
              </a:rPr>
              <a:t>解决方案：加上互斥锁，当锁上的时候，其余几个任务只能等这个</a:t>
            </a:r>
            <a:r>
              <a:rPr lang="en-US" altLang="zh-CN">
                <a:solidFill>
                  <a:srgbClr val="92D050"/>
                </a:solidFill>
              </a:rPr>
              <a:t>I2C</a:t>
            </a:r>
            <a:r>
              <a:rPr lang="zh-CN" altLang="en-US">
                <a:solidFill>
                  <a:srgbClr val="92D050"/>
                </a:solidFill>
              </a:rPr>
              <a:t>通讯结束后才能</a:t>
            </a:r>
            <a:r>
              <a:rPr lang="zh-CN" altLang="en-US">
                <a:solidFill>
                  <a:srgbClr val="92D050"/>
                </a:solidFill>
              </a:rPr>
              <a:t>继续使用。</a:t>
            </a:r>
            <a:endParaRPr lang="zh-CN" altLang="en-US">
              <a:solidFill>
                <a:srgbClr val="92D05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847840" y="1646555"/>
            <a:ext cx="5124450" cy="4826000"/>
            <a:chOff x="5565" y="3345"/>
            <a:chExt cx="8070" cy="76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565" y="7455"/>
              <a:ext cx="8070" cy="349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5" y="3345"/>
              <a:ext cx="8070" cy="4110"/>
            </a:xfrm>
            <a:prstGeom prst="rect">
              <a:avLst/>
            </a:prstGeom>
          </p:spPr>
        </p:pic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840" y="2125345"/>
            <a:ext cx="3302000" cy="1549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840" y="1837690"/>
            <a:ext cx="2773045" cy="132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235" y="3830320"/>
            <a:ext cx="2787650" cy="152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4067810"/>
            <a:ext cx="2352040" cy="267144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951605" y="4257040"/>
            <a:ext cx="2145665" cy="1663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951605" y="4608195"/>
            <a:ext cx="2145665" cy="1663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847840" y="1657985"/>
            <a:ext cx="2145665" cy="1663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、开启</a:t>
            </a:r>
            <a:r>
              <a:rPr lang="en-US" altLang="zh-CN">
                <a:solidFill>
                  <a:srgbClr val="FF0000"/>
                </a:solidFill>
              </a:rPr>
              <a:t>ESP8266</a:t>
            </a:r>
            <a:r>
              <a:rPr lang="zh-CN" altLang="en-US">
                <a:solidFill>
                  <a:srgbClr val="FF0000"/>
                </a:solidFill>
              </a:rPr>
              <a:t>任务后，系统直接没有工作，所有功能都停止工作（加入新任务就全盘崩溃）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原因：</a:t>
            </a:r>
            <a:r>
              <a:rPr lang="en-US" altLang="zh-CN">
                <a:solidFill>
                  <a:srgbClr val="FFC000"/>
                </a:solidFill>
              </a:rPr>
              <a:t>ESP8266_SendTask </a:t>
            </a:r>
            <a:r>
              <a:rPr lang="zh-CN" altLang="en-US">
                <a:solidFill>
                  <a:srgbClr val="FFC000"/>
                </a:solidFill>
              </a:rPr>
              <a:t>分配的栈空间是</a:t>
            </a:r>
            <a:r>
              <a:rPr lang="en-US" altLang="zh-CN">
                <a:solidFill>
                  <a:srgbClr val="FFC000"/>
                </a:solidFill>
              </a:rPr>
              <a:t> 512</a:t>
            </a:r>
            <a:r>
              <a:rPr lang="zh-CN" altLang="en-US">
                <a:solidFill>
                  <a:srgbClr val="FFC000"/>
                </a:solidFill>
              </a:rPr>
              <a:t>，但是程序运行过程内部</a:t>
            </a:r>
            <a:r>
              <a:rPr lang="zh-CN" altLang="en-US">
                <a:solidFill>
                  <a:srgbClr val="FFC000"/>
                </a:solidFill>
              </a:rPr>
              <a:t>数组定义的数值太大，导致栈空间耗尽。</a:t>
            </a:r>
            <a:r>
              <a:rPr lang="en-US" altLang="zh-CN">
                <a:solidFill>
                  <a:srgbClr val="FFC000"/>
                </a:solidFill>
              </a:rPr>
              <a:t>FreeRTOS </a:t>
            </a:r>
            <a:r>
              <a:rPr lang="zh-CN" altLang="en-US">
                <a:solidFill>
                  <a:srgbClr val="FFC000"/>
                </a:solidFill>
              </a:rPr>
              <a:t>的底层内存结构被破坏，系统瞬间死机，</a:t>
            </a:r>
            <a:r>
              <a:rPr lang="en-US" altLang="zh-CN">
                <a:solidFill>
                  <a:srgbClr val="FFC000"/>
                </a:solidFill>
              </a:rPr>
              <a:t>OLED </a:t>
            </a:r>
            <a:r>
              <a:rPr lang="zh-CN" altLang="en-US">
                <a:solidFill>
                  <a:srgbClr val="FFC000"/>
                </a:solidFill>
              </a:rPr>
              <a:t>屏幕当然也就连第一行字都刷不出来了。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92D050"/>
                </a:solidFill>
              </a:rPr>
              <a:t>解决方案：精简缓冲区大小，将变量的数组大小调小（例如有些数组大小可以稍微</a:t>
            </a:r>
            <a:r>
              <a:rPr lang="zh-CN" altLang="en-US">
                <a:solidFill>
                  <a:srgbClr val="92D050"/>
                </a:solidFill>
              </a:rPr>
              <a:t>调小一点），并修改</a:t>
            </a:r>
            <a:r>
              <a:rPr lang="en-US" altLang="zh-CN">
                <a:solidFill>
                  <a:srgbClr val="92D050"/>
                </a:solidFill>
              </a:rPr>
              <a:t>Cube MX</a:t>
            </a:r>
            <a:r>
              <a:rPr lang="zh-CN" altLang="en-US">
                <a:solidFill>
                  <a:srgbClr val="92D050"/>
                </a:solidFill>
              </a:rPr>
              <a:t>中的关于</a:t>
            </a:r>
            <a:r>
              <a:rPr lang="en-US" altLang="zh-CN">
                <a:solidFill>
                  <a:srgbClr val="92D050"/>
                </a:solidFill>
              </a:rPr>
              <a:t>freertos</a:t>
            </a:r>
            <a:r>
              <a:rPr lang="zh-CN" altLang="en-US">
                <a:solidFill>
                  <a:srgbClr val="92D050"/>
                </a:solidFill>
              </a:rPr>
              <a:t>的</a:t>
            </a:r>
            <a:r>
              <a:rPr lang="zh-CN" altLang="en-US">
                <a:solidFill>
                  <a:srgbClr val="92D050"/>
                </a:solidFill>
              </a:rPr>
              <a:t>参数（</a:t>
            </a:r>
            <a:r>
              <a:rPr lang="en-US" altLang="zh-CN">
                <a:solidFill>
                  <a:srgbClr val="92D050"/>
                </a:solidFill>
              </a:rPr>
              <a:t>TOTAL_HEAP_SIZE</a:t>
            </a:r>
            <a:r>
              <a:rPr lang="zh-CN" altLang="en-US">
                <a:solidFill>
                  <a:srgbClr val="92D050"/>
                </a:solidFill>
              </a:rPr>
              <a:t>（总堆空间大小）</a:t>
            </a:r>
            <a:r>
              <a:rPr lang="zh-CN" altLang="en-US">
                <a:solidFill>
                  <a:srgbClr val="92D050"/>
                </a:solidFill>
              </a:rPr>
              <a:t>）</a:t>
            </a:r>
            <a:endParaRPr lang="zh-CN" altLang="en-US">
              <a:solidFill>
                <a:srgbClr val="92D05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90" y="2268220"/>
            <a:ext cx="4662805" cy="23209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" y="4589145"/>
            <a:ext cx="4038600" cy="7874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151245" y="3642360"/>
            <a:ext cx="5822315" cy="28917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400">
                <a:solidFill>
                  <a:srgbClr val="92D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TOTAL_HEAP_SIZE</a:t>
            </a:r>
            <a:r>
              <a:rPr lang="zh-CN" altLang="en-US" sz="1400">
                <a:solidFill>
                  <a:srgbClr val="92D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当使用 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FreeRTOS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时，所有</a:t>
            </a: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动态创建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的操作系统对象，都是从这个 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TOTAL_HEAP_SIZE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池子里扣除内存的。包括动态创建任务，创建队列以及建互斥锁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信号量</a:t>
            </a:r>
            <a:r>
              <a:rPr lang="zh-CN" altLang="en-US" sz="1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太小：你的单片机不会立刻死机，但是某个任务根本没有被启动，或者某个队列压根没创建成功。后续代码如果没做检查，直接往没创建的队列里发数据，就会导致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HardFault 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死机。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太大：会从你单片机总的物理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RAM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SRAM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）里提前圈出来的一块静态大数组。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若将数值设置的与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STM32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RAM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总值差不多大，编译器就会直接报错：</a:t>
            </a:r>
            <a:r>
              <a:rPr lang="en-US" altLang="zh-CN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Error: L6220E: Execution region RW_IRAM1 size (...) exceeds limit (...)</a:t>
            </a:r>
            <a:r>
              <a:rPr lang="zh-CN" altLang="en-US" sz="1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，提示你内存溢出，编译不通过</a:t>
            </a:r>
            <a:endParaRPr lang="zh-CN" altLang="en-US" sz="1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4</a:t>
            </a:r>
            <a:r>
              <a:rPr lang="zh-CN" altLang="en-US">
                <a:solidFill>
                  <a:srgbClr val="FF0000"/>
                </a:solidFill>
              </a:rPr>
              <a:t>、数据同步性很差，数据更新很慢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原因：</a:t>
            </a:r>
            <a:r>
              <a:rPr lang="en-US" altLang="zh-CN">
                <a:solidFill>
                  <a:srgbClr val="FFC000"/>
                </a:solidFill>
              </a:rPr>
              <a:t>ESP8266_SendTask </a:t>
            </a:r>
            <a:r>
              <a:rPr lang="zh-CN" altLang="en-US">
                <a:solidFill>
                  <a:srgbClr val="FFC000"/>
                </a:solidFill>
              </a:rPr>
              <a:t>任务中存在严重的逻辑阻塞（队列积压）【原本的想法是开启</a:t>
            </a:r>
            <a:r>
              <a:rPr lang="en-US" altLang="zh-CN">
                <a:solidFill>
                  <a:srgbClr val="FFC000"/>
                </a:solidFill>
              </a:rPr>
              <a:t>vTaskDelay</a:t>
            </a:r>
            <a:r>
              <a:rPr lang="zh-CN" altLang="en-US">
                <a:solidFill>
                  <a:srgbClr val="FFC000"/>
                </a:solidFill>
              </a:rPr>
              <a:t>函数给低优先级的任务</a:t>
            </a:r>
            <a:r>
              <a:rPr lang="zh-CN" altLang="en-US">
                <a:solidFill>
                  <a:srgbClr val="FFC000"/>
                </a:solidFill>
              </a:rPr>
              <a:t>让步】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92D050"/>
                </a:solidFill>
              </a:rPr>
              <a:t>解决方案：将这一行代码删除，函数</a:t>
            </a:r>
            <a:r>
              <a:rPr lang="en-US" altLang="zh-CN">
                <a:solidFill>
                  <a:srgbClr val="92D050"/>
                </a:solidFill>
              </a:rPr>
              <a:t>xQueueReceive( xSensorQueue, &amp;ReceiveData, portMAX_DELAY)</a:t>
            </a:r>
            <a:r>
              <a:rPr lang="zh-CN" altLang="en-US">
                <a:solidFill>
                  <a:srgbClr val="92D050"/>
                </a:solidFill>
              </a:rPr>
              <a:t>；也会使发送任务进入挂起态，这个时候就是其他低一级任务工作的时候</a:t>
            </a:r>
            <a:endParaRPr lang="en-US" altLang="zh-CN">
              <a:solidFill>
                <a:srgbClr val="92D050"/>
              </a:solidFill>
            </a:endParaRPr>
          </a:p>
          <a:p>
            <a:endParaRPr lang="zh-CN" altLang="en-US">
              <a:solidFill>
                <a:srgbClr val="92D05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330" y="2001520"/>
            <a:ext cx="5305425" cy="1666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" y="3668395"/>
            <a:ext cx="7277100" cy="30194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、任务增多导致，整个系统无法正常进行工作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原因：任务优先级混乱的问题，以及合适开启一个任务的</a:t>
            </a:r>
            <a:r>
              <a:rPr lang="zh-CN" altLang="en-US">
                <a:solidFill>
                  <a:srgbClr val="FFC000"/>
                </a:solidFill>
              </a:rPr>
              <a:t>问题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92D050"/>
                </a:solidFill>
              </a:rPr>
              <a:t>解决方案：重新捋一遍任务之间关系，以及什么任务需要优先启用，什么任务是可以放到最好慢慢进行</a:t>
            </a:r>
            <a:r>
              <a:rPr lang="zh-CN" altLang="en-US">
                <a:solidFill>
                  <a:srgbClr val="92D050"/>
                </a:solidFill>
              </a:rPr>
              <a:t>数据处理的</a:t>
            </a:r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4490" y="1356995"/>
            <a:ext cx="114592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（原有思维：接收任务需要是最高的，因为需要实时能够接受上位机发送的数据，然后执行任务排在最低，只要有时间能运行就可以，但是这样的任务优先级排序导致任务无法进行。</a:t>
            </a:r>
            <a:endParaRPr lang="zh-CN" altLang="en-US"/>
          </a:p>
          <a:p>
            <a:r>
              <a:rPr lang="zh-CN" altLang="en-US"/>
              <a:t>原因：判断上位机是否有数据传输，用的是一个很土的办法，因为</a:t>
            </a:r>
            <a:r>
              <a:rPr lang="en-US" altLang="zh-CN"/>
              <a:t> ESP8266 </a:t>
            </a:r>
            <a:r>
              <a:rPr lang="zh-CN" altLang="en-US"/>
              <a:t>发来的</a:t>
            </a:r>
            <a:r>
              <a:rPr lang="en-US" altLang="zh-CN"/>
              <a:t> JSON </a:t>
            </a:r>
            <a:r>
              <a:rPr lang="zh-CN" altLang="en-US"/>
              <a:t>数据都是以</a:t>
            </a:r>
            <a:r>
              <a:rPr lang="en-US" altLang="zh-CN"/>
              <a:t> } </a:t>
            </a:r>
            <a:r>
              <a:rPr lang="zh-CN" altLang="en-US"/>
              <a:t>结尾的，所以只要检测到</a:t>
            </a:r>
            <a:r>
              <a:rPr lang="en-US" altLang="zh-CN"/>
              <a:t> }</a:t>
            </a:r>
            <a:r>
              <a:rPr lang="zh-CN" altLang="en-US"/>
              <a:t>，就说明一包</a:t>
            </a:r>
            <a:r>
              <a:rPr lang="en-US" altLang="zh-CN"/>
              <a:t> JSON </a:t>
            </a:r>
            <a:r>
              <a:rPr lang="zh-CN" altLang="en-US"/>
              <a:t>收完了，可以唤醒任务去解析了。但是在系统刚上电时，单片机给</a:t>
            </a:r>
            <a:r>
              <a:rPr lang="en-US" altLang="zh-CN"/>
              <a:t>ESP8266</a:t>
            </a:r>
            <a:r>
              <a:rPr lang="zh-CN" altLang="en-US"/>
              <a:t>发送一系列</a:t>
            </a:r>
            <a:r>
              <a:rPr lang="en-US" altLang="zh-CN"/>
              <a:t>AT</a:t>
            </a:r>
            <a:r>
              <a:rPr lang="zh-CN" altLang="en-US"/>
              <a:t>指令来连接</a:t>
            </a:r>
            <a:r>
              <a:rPr lang="en-US" altLang="zh-CN"/>
              <a:t> WiFi</a:t>
            </a:r>
            <a:r>
              <a:rPr lang="zh-CN" altLang="en-US"/>
              <a:t>。</a:t>
            </a:r>
            <a:r>
              <a:rPr lang="en-US" altLang="zh-CN"/>
              <a:t>ESP8266</a:t>
            </a:r>
            <a:r>
              <a:rPr lang="zh-CN" altLang="en-US"/>
              <a:t>成功后回复的是类似</a:t>
            </a:r>
            <a:r>
              <a:rPr lang="en-US" altLang="zh-CN"/>
              <a:t>OK\r\n</a:t>
            </a:r>
            <a:r>
              <a:rPr lang="zh-CN" altLang="en-US"/>
              <a:t>或者</a:t>
            </a:r>
            <a:r>
              <a:rPr lang="en-US" altLang="zh-CN"/>
              <a:t>WIFI CONNECTED\r\n </a:t>
            </a:r>
            <a:r>
              <a:rPr lang="zh-CN" altLang="en-US"/>
              <a:t>这样的字符串。这些回复里根本没有</a:t>
            </a:r>
            <a:r>
              <a:rPr lang="en-US" altLang="zh-CN"/>
              <a:t>“</a:t>
            </a:r>
            <a:r>
              <a:rPr lang="en-US" altLang="zh-CN">
                <a:sym typeface="+mn-ea"/>
              </a:rPr>
              <a:t>}”</a:t>
            </a:r>
            <a:r>
              <a:rPr lang="zh-CN" altLang="en-US">
                <a:sym typeface="+mn-ea"/>
              </a:rPr>
              <a:t>，</a:t>
            </a:r>
            <a:r>
              <a:rPr lang="zh-CN" altLang="en-US"/>
              <a:t>当</a:t>
            </a:r>
            <a:r>
              <a:rPr lang="en-US" altLang="zh-CN"/>
              <a:t> ESP8266_Send_Cmd </a:t>
            </a:r>
            <a:r>
              <a:rPr lang="zh-CN" altLang="en-US"/>
              <a:t>发送订阅指令</a:t>
            </a:r>
            <a:r>
              <a:rPr lang="en-US" altLang="zh-CN"/>
              <a:t> AT+MQTTSUB=... </a:t>
            </a:r>
            <a:r>
              <a:rPr lang="zh-CN" altLang="en-US"/>
              <a:t>后，云端服务器不仅会回复</a:t>
            </a:r>
            <a:r>
              <a:rPr lang="en-US" altLang="zh-CN"/>
              <a:t> OK\r\n</a:t>
            </a:r>
            <a:r>
              <a:rPr lang="zh-CN" altLang="en-US"/>
              <a:t>，而且往往会立刻把设备当前的最新状态推送下来！这导致串口瞬间收到了大量包含</a:t>
            </a:r>
            <a:r>
              <a:rPr lang="en-US" altLang="zh-CN"/>
              <a:t> JSON </a:t>
            </a:r>
            <a:r>
              <a:rPr lang="zh-CN" altLang="en-US"/>
              <a:t>结尾符</a:t>
            </a:r>
            <a:r>
              <a:rPr lang="en-US" altLang="zh-CN"/>
              <a:t> } </a:t>
            </a:r>
            <a:r>
              <a:rPr lang="zh-CN" altLang="en-US"/>
              <a:t>的字符。中断函数一旦检测到</a:t>
            </a:r>
            <a:r>
              <a:rPr lang="en-US" altLang="zh-CN"/>
              <a:t> }</a:t>
            </a:r>
            <a:r>
              <a:rPr lang="zh-CN" altLang="en-US"/>
              <a:t>，便会立刻释放信号量</a:t>
            </a:r>
            <a:r>
              <a:rPr lang="en-US" altLang="zh-CN"/>
              <a:t>xRxSemaphore</a:t>
            </a:r>
            <a:r>
              <a:rPr lang="zh-CN" altLang="en-US"/>
              <a:t>。由于</a:t>
            </a:r>
            <a:r>
              <a:rPr lang="en-US" altLang="zh-CN"/>
              <a:t>ESP8266_ReceiveTask </a:t>
            </a:r>
            <a:r>
              <a:rPr lang="zh-CN" altLang="en-US"/>
              <a:t>是最高优先级，操作系统瞬间剥夺了当前初始化代码的</a:t>
            </a:r>
            <a:r>
              <a:rPr lang="en-US" altLang="zh-CN"/>
              <a:t> CPU </a:t>
            </a:r>
            <a:r>
              <a:rPr lang="zh-CN" altLang="en-US"/>
              <a:t>运行权，跳转去执行接收任务。接收任务醒来，试图解析这段</a:t>
            </a:r>
            <a:r>
              <a:rPr lang="en-US" altLang="zh-CN"/>
              <a:t> JSON</a:t>
            </a:r>
            <a:r>
              <a:rPr lang="zh-CN" altLang="en-US"/>
              <a:t>，然后在任务的最后，执行了</a:t>
            </a:r>
            <a:r>
              <a:rPr lang="en-US" altLang="zh-CN"/>
              <a:t> ESP8266_Clear_Buffer();</a:t>
            </a:r>
            <a:r>
              <a:rPr lang="zh-CN" altLang="en-US"/>
              <a:t>，直接把整个接收缓存区清零了！当接收任务休眠，</a:t>
            </a:r>
            <a:r>
              <a:rPr lang="en-US" altLang="zh-CN"/>
              <a:t>CPU </a:t>
            </a:r>
            <a:r>
              <a:rPr lang="zh-CN" altLang="en-US"/>
              <a:t>回到</a:t>
            </a:r>
            <a:r>
              <a:rPr lang="en-US" altLang="zh-CN"/>
              <a:t> ESP8266_Init </a:t>
            </a:r>
            <a:r>
              <a:rPr lang="zh-CN" altLang="en-US"/>
              <a:t>的</a:t>
            </a:r>
            <a:r>
              <a:rPr lang="en-US" altLang="zh-CN"/>
              <a:t>while</a:t>
            </a:r>
            <a:r>
              <a:rPr lang="zh-CN" altLang="en-US"/>
              <a:t>循环接着执行</a:t>
            </a:r>
            <a:r>
              <a:rPr lang="en-US" altLang="zh-CN"/>
              <a:t> strstr</a:t>
            </a:r>
            <a:r>
              <a:rPr lang="zh-CN" altLang="en-US"/>
              <a:t>函数时，由于</a:t>
            </a:r>
            <a:r>
              <a:rPr lang="en-US" altLang="zh-CN"/>
              <a:t> Buffer </a:t>
            </a:r>
            <a:r>
              <a:rPr lang="zh-CN" altLang="en-US"/>
              <a:t>已经被清空，它永远找不到</a:t>
            </a:r>
            <a:r>
              <a:rPr lang="en-US" altLang="zh-CN"/>
              <a:t> OK</a:t>
            </a:r>
            <a:r>
              <a:rPr lang="zh-CN" altLang="en-US"/>
              <a:t>，只能死等直到</a:t>
            </a:r>
            <a:r>
              <a:rPr lang="en-US" altLang="zh-CN"/>
              <a:t> timeout </a:t>
            </a:r>
            <a:r>
              <a:rPr lang="zh-CN" altLang="en-US"/>
              <a:t>耗尽并返回失败。）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4490" y="4827905"/>
            <a:ext cx="114249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u="sng">
                <a:solidFill>
                  <a:schemeClr val="accent6"/>
                </a:solidFill>
              </a:rPr>
              <a:t>1</a:t>
            </a:r>
            <a:r>
              <a:rPr lang="zh-CN" altLang="en-US" u="sng">
                <a:solidFill>
                  <a:schemeClr val="accent6"/>
                </a:solidFill>
              </a:rPr>
              <a:t>、执行机构最高优先级：在控制</a:t>
            </a:r>
            <a:r>
              <a:rPr lang="en-US" altLang="zh-CN" u="sng">
                <a:solidFill>
                  <a:schemeClr val="accent6"/>
                </a:solidFill>
              </a:rPr>
              <a:t>LED</a:t>
            </a:r>
            <a:r>
              <a:rPr lang="zh-CN" altLang="en-US" u="sng">
                <a:solidFill>
                  <a:schemeClr val="accent6"/>
                </a:solidFill>
              </a:rPr>
              <a:t>以及水泵的代码上，大概使用的是</a:t>
            </a:r>
            <a:r>
              <a:rPr lang="en-US" altLang="zh-CN" u="sng">
                <a:solidFill>
                  <a:schemeClr val="accent6"/>
                </a:solidFill>
              </a:rPr>
              <a:t>HAL_GPIO_WritePin()</a:t>
            </a:r>
            <a:r>
              <a:rPr lang="zh-CN" altLang="en-US" u="sng">
                <a:solidFill>
                  <a:schemeClr val="accent6"/>
                </a:solidFill>
              </a:rPr>
              <a:t>，执行时间很短，基本不怎么占用</a:t>
            </a:r>
            <a:r>
              <a:rPr lang="en-US" altLang="zh-CN" u="sng">
                <a:solidFill>
                  <a:schemeClr val="accent6"/>
                </a:solidFill>
              </a:rPr>
              <a:t>CPU</a:t>
            </a:r>
            <a:r>
              <a:rPr lang="zh-CN" altLang="en-US" u="sng">
                <a:solidFill>
                  <a:schemeClr val="accent6"/>
                </a:solidFill>
              </a:rPr>
              <a:t>资源，在没有指令控制的时候，基本都处于阻塞态，而且要求执行机构相应迅速，收到消息后必须最快速度进行控制</a:t>
            </a:r>
            <a:endParaRPr lang="zh-CN" altLang="en-US" u="sng">
              <a:solidFill>
                <a:schemeClr val="accent6"/>
              </a:solidFill>
            </a:endParaRPr>
          </a:p>
          <a:p>
            <a:r>
              <a:rPr lang="en-US" altLang="zh-CN" u="sng">
                <a:solidFill>
                  <a:schemeClr val="accent6"/>
                </a:solidFill>
              </a:rPr>
              <a:t>2</a:t>
            </a:r>
            <a:r>
              <a:rPr lang="zh-CN" altLang="en-US" u="sng">
                <a:solidFill>
                  <a:schemeClr val="accent6"/>
                </a:solidFill>
              </a:rPr>
              <a:t>、网络通信中等优先级：处理网络</a:t>
            </a:r>
            <a:r>
              <a:rPr lang="en-US" altLang="zh-CN" u="sng">
                <a:solidFill>
                  <a:schemeClr val="accent6"/>
                </a:solidFill>
              </a:rPr>
              <a:t> JSON </a:t>
            </a:r>
            <a:r>
              <a:rPr lang="zh-CN" altLang="en-US" u="sng">
                <a:solidFill>
                  <a:schemeClr val="accent6"/>
                </a:solidFill>
              </a:rPr>
              <a:t>数据、串口收发是比较耗费</a:t>
            </a:r>
            <a:r>
              <a:rPr lang="en-US" altLang="zh-CN" u="sng">
                <a:solidFill>
                  <a:schemeClr val="accent6"/>
                </a:solidFill>
              </a:rPr>
              <a:t> CPU </a:t>
            </a:r>
            <a:r>
              <a:rPr lang="zh-CN" altLang="en-US" u="sng">
                <a:solidFill>
                  <a:schemeClr val="accent6"/>
                </a:solidFill>
              </a:rPr>
              <a:t>时间的，但比传感器采集快。它们作为中枢神经，承上启下。</a:t>
            </a:r>
            <a:endParaRPr lang="zh-CN" altLang="en-US" u="sng">
              <a:solidFill>
                <a:schemeClr val="accent6"/>
              </a:solidFill>
            </a:endParaRPr>
          </a:p>
          <a:p>
            <a:r>
              <a:rPr lang="en-US" altLang="zh-CN" u="sng">
                <a:solidFill>
                  <a:schemeClr val="accent6"/>
                </a:solidFill>
              </a:rPr>
              <a:t>3</a:t>
            </a:r>
            <a:r>
              <a:rPr lang="zh-CN" altLang="en-US" u="sng">
                <a:solidFill>
                  <a:schemeClr val="accent6"/>
                </a:solidFill>
              </a:rPr>
              <a:t>、传感器采集最低优先级：传感器的采集频率比较低，只需要在</a:t>
            </a:r>
            <a:r>
              <a:rPr lang="en-US" altLang="zh-CN" u="sng">
                <a:solidFill>
                  <a:schemeClr val="accent6"/>
                </a:solidFill>
              </a:rPr>
              <a:t>CPU</a:t>
            </a:r>
            <a:r>
              <a:rPr lang="zh-CN" altLang="en-US" u="sng">
                <a:solidFill>
                  <a:schemeClr val="accent6"/>
                </a:solidFill>
              </a:rPr>
              <a:t>空闲时间内，进行传感器数据采集即可，这样设计极大提高了</a:t>
            </a:r>
            <a:r>
              <a:rPr lang="en-US" altLang="zh-CN" u="sng">
                <a:solidFill>
                  <a:schemeClr val="accent6"/>
                </a:solidFill>
              </a:rPr>
              <a:t> CPU </a:t>
            </a:r>
            <a:r>
              <a:rPr lang="zh-CN" altLang="en-US" u="sng">
                <a:solidFill>
                  <a:schemeClr val="accent6"/>
                </a:solidFill>
              </a:rPr>
              <a:t>的利用率。</a:t>
            </a:r>
            <a:endParaRPr lang="zh-CN" altLang="en-US" u="sng">
              <a:solidFill>
                <a:schemeClr val="accent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、任务增多导致，整个系统无法正常进行工作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原因：任务优先级混乱的问题，以及合适开启一个任务的</a:t>
            </a:r>
            <a:r>
              <a:rPr lang="zh-CN" altLang="en-US">
                <a:solidFill>
                  <a:srgbClr val="FFC000"/>
                </a:solidFill>
              </a:rPr>
              <a:t>问题</a:t>
            </a:r>
            <a:endParaRPr lang="zh-CN" altLang="en-US">
              <a:solidFill>
                <a:srgbClr val="FFC000"/>
              </a:solidFill>
            </a:endParaRPr>
          </a:p>
          <a:p>
            <a:r>
              <a:rPr lang="zh-CN" altLang="en-US">
                <a:solidFill>
                  <a:srgbClr val="92D050"/>
                </a:solidFill>
              </a:rPr>
              <a:t>解决方案：重新捋一遍任务之间关系，以及什么任务需要优先启用，什么任务是可以放到最好慢慢进行</a:t>
            </a:r>
            <a:r>
              <a:rPr lang="zh-CN" altLang="en-US">
                <a:solidFill>
                  <a:srgbClr val="92D050"/>
                </a:solidFill>
              </a:rPr>
              <a:t>数据处理的</a:t>
            </a:r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4485" y="1478280"/>
            <a:ext cx="114592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u="sng"/>
              <a:t>问：为什么这么分配任务优先级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答：在项目初期，将网络接收设为最高优先级，导致初始化时触发了抢占竞态条件（全局</a:t>
            </a:r>
            <a:r>
              <a:rPr lang="en-US" altLang="zh-CN"/>
              <a:t>Buffer</a:t>
            </a:r>
            <a:r>
              <a:rPr lang="zh-CN" altLang="en-US"/>
              <a:t>被提前清空）和低优先级任务饿死，造成系统启动死锁。</a:t>
            </a:r>
            <a:endParaRPr lang="en-US" altLang="zh-CN"/>
          </a:p>
          <a:p>
            <a:r>
              <a:rPr lang="zh-CN" altLang="en-US"/>
              <a:t>查明原因后，重新分配了优先级：</a:t>
            </a:r>
            <a:endParaRPr lang="en-US" altLang="zh-CN"/>
          </a:p>
          <a:p>
            <a:r>
              <a:rPr lang="zh-CN" altLang="en-US" u="sng"/>
              <a:t>高优先级分配给执行机构（水泵</a:t>
            </a:r>
            <a:r>
              <a:rPr lang="en-US" altLang="zh-CN" u="sng"/>
              <a:t>/LED</a:t>
            </a:r>
            <a:r>
              <a:rPr lang="zh-CN" altLang="en-US" u="sng"/>
              <a:t>）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因为它们执行耗时极短（仅改变</a:t>
            </a:r>
            <a:r>
              <a:rPr lang="en-US" altLang="zh-CN"/>
              <a:t>GPIO</a:t>
            </a:r>
            <a:r>
              <a:rPr lang="zh-CN" altLang="en-US"/>
              <a:t>），且</a:t>
            </a:r>
            <a:r>
              <a:rPr lang="en-US" altLang="zh-CN"/>
              <a:t>99%</a:t>
            </a:r>
            <a:r>
              <a:rPr lang="zh-CN" altLang="en-US"/>
              <a:t>的时间处于队列阻塞状态，完全不占用</a:t>
            </a:r>
            <a:r>
              <a:rPr lang="en-US" altLang="zh-CN"/>
              <a:t>CPU</a:t>
            </a:r>
            <a:r>
              <a:rPr lang="zh-CN" altLang="en-US"/>
              <a:t>；同时能保证紧急控制指令的绝对实时响应。</a:t>
            </a:r>
            <a:endParaRPr lang="en-US" altLang="zh-CN"/>
          </a:p>
          <a:p>
            <a:r>
              <a:rPr lang="zh-CN" altLang="en-US" u="sng"/>
              <a:t>中优先级分配给网络通信（</a:t>
            </a:r>
            <a:r>
              <a:rPr lang="en-US" altLang="zh-CN" u="sng"/>
              <a:t>ESP8266</a:t>
            </a:r>
            <a:r>
              <a:rPr lang="zh-CN" altLang="en-US" u="sng"/>
              <a:t>）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作为中枢神经，处理耗时适中的</a:t>
            </a:r>
            <a:r>
              <a:rPr lang="en-US" altLang="zh-CN"/>
              <a:t> JSON </a:t>
            </a:r>
            <a:r>
              <a:rPr lang="zh-CN" altLang="en-US"/>
              <a:t>解析和数据分发。</a:t>
            </a:r>
            <a:endParaRPr lang="en-US" altLang="zh-CN"/>
          </a:p>
          <a:p>
            <a:r>
              <a:rPr lang="zh-CN" altLang="en-US" u="sng"/>
              <a:t>低优先级分配给传感器采集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zh-CN" altLang="en-US"/>
              <a:t>传感器采集往往依赖硬件时序且耗时较长（几十毫秒），具有低频周期性。放在最低可以将其作为系统的</a:t>
            </a:r>
            <a:r>
              <a:rPr lang="en-US" altLang="zh-CN"/>
              <a:t>‘</a:t>
            </a:r>
            <a:r>
              <a:rPr lang="zh-CN" altLang="en-US"/>
              <a:t>后台任务</a:t>
            </a:r>
            <a:r>
              <a:rPr lang="en-US" altLang="zh-CN"/>
              <a:t>’</a:t>
            </a:r>
            <a:r>
              <a:rPr lang="zh-CN" altLang="en-US"/>
              <a:t>，榨干</a:t>
            </a:r>
            <a:r>
              <a:rPr lang="en-US" altLang="zh-CN"/>
              <a:t>CPU</a:t>
            </a:r>
            <a:r>
              <a:rPr lang="zh-CN" altLang="en-US"/>
              <a:t>的空闲时间。</a:t>
            </a:r>
            <a:endParaRPr lang="en-US" altLang="zh-CN"/>
          </a:p>
          <a:p>
            <a:r>
              <a:rPr lang="zh-CN" altLang="en-US"/>
              <a:t>重构后，系统彻底解决了启动死锁问题，避免了任务饿死，</a:t>
            </a:r>
            <a:r>
              <a:rPr lang="en-US" altLang="zh-CN"/>
              <a:t>CPU</a:t>
            </a:r>
            <a:r>
              <a:rPr lang="zh-CN" altLang="en-US"/>
              <a:t>利用率和系统稳定性达到了最优状态。</a:t>
            </a:r>
            <a:r>
              <a:rPr lang="en-US" altLang="zh-CN"/>
              <a:t>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6</a:t>
            </a:r>
            <a:r>
              <a:rPr lang="zh-CN" altLang="en-US">
                <a:solidFill>
                  <a:srgbClr val="FF0000"/>
                </a:solidFill>
              </a:rPr>
              <a:t>、任务增多，需要对任务所占有的栈大小进行管控</a:t>
            </a:r>
            <a:endParaRPr lang="zh-CN" altLang="en-US"/>
          </a:p>
          <a:p>
            <a:r>
              <a:rPr lang="zh-CN" altLang="en-US">
                <a:solidFill>
                  <a:srgbClr val="92D050"/>
                </a:solidFill>
              </a:rPr>
              <a:t>解决方案：通过</a:t>
            </a:r>
            <a:r>
              <a:rPr lang="en-US" altLang="zh-CN">
                <a:solidFill>
                  <a:srgbClr val="92D050"/>
                </a:solidFill>
              </a:rPr>
              <a:t>Freertos</a:t>
            </a:r>
            <a:r>
              <a:rPr lang="zh-CN" altLang="en-US">
                <a:solidFill>
                  <a:srgbClr val="92D050"/>
                </a:solidFill>
              </a:rPr>
              <a:t>内部所带有的功能吗，实时查看每个任务占有的栈的大小，从而反向确定每一个任务最少需要多少栈</a:t>
            </a:r>
            <a:r>
              <a:rPr lang="zh-CN" altLang="en-US">
                <a:solidFill>
                  <a:srgbClr val="92D050"/>
                </a:solidFill>
              </a:rPr>
              <a:t>内存</a:t>
            </a:r>
            <a:endParaRPr lang="zh-CN" altLang="en-US">
              <a:solidFill>
                <a:srgbClr val="92D05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4490" y="1471295"/>
            <a:ext cx="5429250" cy="1037590"/>
            <a:chOff x="695" y="2542"/>
            <a:chExt cx="8550" cy="163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5" y="2542"/>
              <a:ext cx="4395" cy="67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" y="3217"/>
              <a:ext cx="8550" cy="64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" y="3862"/>
              <a:ext cx="3915" cy="315"/>
            </a:xfrm>
            <a:prstGeom prst="rect">
              <a:avLst/>
            </a:prstGeom>
          </p:spPr>
        </p:pic>
      </p:grpSp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669925" y="2637155"/>
          <a:ext cx="10701020" cy="3967480"/>
        </p:xfrm>
        <a:graphic>
          <a:graphicData uri="http://schemas.openxmlformats.org/drawingml/2006/table">
            <a:tbl>
              <a:tblPr firstRow="1">
                <a:tableStyleId>{F82EEB3C-89CA-40DA-894B-E7EAE96AB0E9}</a:tableStyleId>
              </a:tblPr>
              <a:tblGrid>
                <a:gridCol w="2705735"/>
                <a:gridCol w="2363470"/>
                <a:gridCol w="2816225"/>
                <a:gridCol w="2815590"/>
              </a:tblGrid>
              <a:tr h="638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Task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设定任务</a:t>
                      </a:r>
                      <a:r>
                        <a:rPr lang="zh-CN" altLang="en-US"/>
                        <a:t>大小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剩余</a:t>
                      </a:r>
                      <a:r>
                        <a:rPr lang="zh-CN" altLang="en-US"/>
                        <a:t>字节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需不需要</a:t>
                      </a:r>
                      <a:r>
                        <a:rPr lang="zh-CN" altLang="en-US"/>
                        <a:t>缩小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BH1750_Test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MoistureSensor_Test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DHT11_Test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ESP8266_ReceiveTask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194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可以减少至</a:t>
                      </a:r>
                      <a:r>
                        <a:rPr lang="en-US" altLang="zh-CN"/>
                        <a:t>80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ESP8266_SendTask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512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216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可以减少至</a:t>
                      </a:r>
                      <a:r>
                        <a:rPr lang="en-US" altLang="zh-CN"/>
                        <a:t>350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746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Light_Test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Water_Test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</a:t>
            </a:r>
            <a:r>
              <a:rPr lang="zh-CN" altLang="en-US"/>
              <a:t>问题：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6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ESP8266</a:t>
            </a:r>
            <a:r>
              <a:rPr lang="zh-CN" altLang="en-US">
                <a:solidFill>
                  <a:srgbClr val="FF0000"/>
                </a:solidFill>
              </a:rPr>
              <a:t>发送数据量过大时，</a:t>
            </a:r>
            <a:r>
              <a:rPr lang="en-US" altLang="zh-CN">
                <a:solidFill>
                  <a:srgbClr val="FF0000"/>
                </a:solidFill>
              </a:rPr>
              <a:t>OneNet</a:t>
            </a:r>
            <a:r>
              <a:rPr lang="zh-CN" altLang="en-US">
                <a:solidFill>
                  <a:srgbClr val="FF0000"/>
                </a:solidFill>
              </a:rPr>
              <a:t>无法获取下位机数据</a:t>
            </a:r>
            <a:endParaRPr lang="zh-CN" altLang="en-US"/>
          </a:p>
          <a:p>
            <a:r>
              <a:rPr lang="zh-CN" altLang="en-US">
                <a:solidFill>
                  <a:srgbClr val="92D050"/>
                </a:solidFill>
              </a:rPr>
              <a:t>解决方案：使用</a:t>
            </a:r>
            <a:r>
              <a:rPr lang="en-US" altLang="zh-CN">
                <a:solidFill>
                  <a:srgbClr val="92D050"/>
                </a:solidFill>
              </a:rPr>
              <a:t>AT+MQTTPUBRAW</a:t>
            </a:r>
            <a:r>
              <a:rPr lang="zh-CN" altLang="en-US">
                <a:solidFill>
                  <a:srgbClr val="92D050"/>
                </a:solidFill>
              </a:rPr>
              <a:t>而不是</a:t>
            </a:r>
            <a:r>
              <a:rPr lang="en-US" altLang="zh-CN">
                <a:solidFill>
                  <a:srgbClr val="92D050"/>
                </a:solidFill>
              </a:rPr>
              <a:t>AT+MQTTPUB</a:t>
            </a:r>
            <a:endParaRPr lang="en-US" altLang="zh-CN">
              <a:solidFill>
                <a:srgbClr val="92D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270" y="1216660"/>
            <a:ext cx="115481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原因：</a:t>
            </a:r>
            <a:r>
              <a:rPr lang="en-US" altLang="zh-CN"/>
              <a:t>AT</a:t>
            </a:r>
            <a:r>
              <a:rPr lang="zh-CN" altLang="en-US"/>
              <a:t>指令的缓冲区大小是有限的，大概只有</a:t>
            </a:r>
            <a:r>
              <a:rPr lang="en-US" altLang="zh-CN"/>
              <a:t>256</a:t>
            </a:r>
            <a:r>
              <a:rPr lang="zh-CN" altLang="en-US"/>
              <a:t>个字节，当发送数据过多时，就</a:t>
            </a:r>
            <a:r>
              <a:rPr lang="en-US" altLang="zh-CN"/>
              <a:t>ESP8266 </a:t>
            </a:r>
            <a:r>
              <a:rPr lang="zh-CN" altLang="en-US"/>
              <a:t>会直接把指令截断，导致发送失败。</a:t>
            </a:r>
            <a:endParaRPr lang="zh-CN" altLang="en-US"/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AT+MQTTPUBRAW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指令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工作机制：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、单片机先向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ESP8266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发送指令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AT+MQTTPUBRAW=0,"topic",num,0,0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，我要往这个主题发数据了，数据长度为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num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个字节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ESP8266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收到后，内部会准备好缓冲区，并向单片机回复一个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符号，表示准备哈接收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、单片机直接把纯净的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JSON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字符串通过串口发过去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优点：速度快，不限制格式，而且能够支持最大长度几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KB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遇到的问题：（更新于</a:t>
            </a:r>
            <a:r>
              <a:rPr lang="en-US" altLang="zh-CN"/>
              <a:t>2026.07.20)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7</a:t>
            </a:r>
            <a:r>
              <a:rPr lang="zh-CN" altLang="en-US">
                <a:solidFill>
                  <a:srgbClr val="FF0000"/>
                </a:solidFill>
              </a:rPr>
              <a:t>、当三个传感器中任意一个传感器无法获取数据时，所有的数据内容都无法上传至物联网平台</a:t>
            </a:r>
            <a:endParaRPr lang="zh-CN" altLang="en-US"/>
          </a:p>
          <a:p>
            <a:r>
              <a:rPr lang="zh-CN" altLang="en-US">
                <a:solidFill>
                  <a:srgbClr val="92D050"/>
                </a:solidFill>
              </a:rPr>
              <a:t>解决方案：增加一个新功能（启动一个定时器，当在定时器限定时间内并没有进行数据更新，强制将已更新的传感器数据进行一次发送，未更新的数据发送</a:t>
            </a:r>
            <a:r>
              <a:rPr lang="en-US" altLang="zh-CN">
                <a:solidFill>
                  <a:srgbClr val="92D050"/>
                </a:solidFill>
              </a:rPr>
              <a:t>-1</a:t>
            </a:r>
            <a:r>
              <a:rPr lang="zh-CN" altLang="en-US">
                <a:solidFill>
                  <a:srgbClr val="92D050"/>
                </a:solidFill>
              </a:rPr>
              <a:t>）【专有名词：</a:t>
            </a:r>
            <a:r>
              <a:rPr lang="zh-CN" altLang="en-US">
                <a:solidFill>
                  <a:srgbClr val="92D050"/>
                </a:solidFill>
              </a:rPr>
              <a:t>数据看门狗】</a:t>
            </a:r>
            <a:endParaRPr lang="zh-CN" altLang="en-US">
              <a:solidFill>
                <a:srgbClr val="92D050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7800" y="2548255"/>
            <a:ext cx="5657850" cy="1845310"/>
            <a:chOff x="390" y="2221"/>
            <a:chExt cx="8910" cy="290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0" y="2221"/>
              <a:ext cx="8911" cy="2907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4112" y="2400"/>
              <a:ext cx="311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>
                  <a:solidFill>
                    <a:srgbClr val="FF0000"/>
                  </a:solidFill>
                </a:rPr>
                <a:t>源代码收集到的标志位为</a:t>
              </a:r>
              <a:r>
                <a:rPr lang="en-US" altLang="zh-CN" sz="1000">
                  <a:solidFill>
                    <a:srgbClr val="FF0000"/>
                  </a:solidFill>
                </a:rPr>
                <a:t>0111</a:t>
              </a:r>
              <a:r>
                <a:rPr lang="zh-CN" altLang="en-US" sz="1000">
                  <a:solidFill>
                    <a:srgbClr val="FF0000"/>
                  </a:solidFill>
                </a:rPr>
                <a:t>时才能</a:t>
              </a:r>
              <a:r>
                <a:rPr lang="zh-CN" altLang="en-US" sz="1000">
                  <a:solidFill>
                    <a:srgbClr val="FF0000"/>
                  </a:solidFill>
                </a:rPr>
                <a:t>发送</a:t>
              </a:r>
              <a:endParaRPr lang="zh-CN" altLang="en-US" sz="1000">
                <a:solidFill>
                  <a:srgbClr val="FF0000"/>
                </a:solidFill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5906135" y="1410335"/>
            <a:ext cx="0" cy="541274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171565" y="1524000"/>
            <a:ext cx="5801360" cy="62674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/>
              <a:t>1</a:t>
            </a:r>
            <a:r>
              <a:rPr lang="zh-CN" altLang="en-US" sz="1400"/>
              <a:t>、创建软件定时器（同时开启回调函数</a:t>
            </a:r>
            <a:r>
              <a:rPr lang="en-US" altLang="zh-CN" sz="1400" u="sng">
                <a:highlight>
                  <a:srgbClr val="FFFF00"/>
                </a:highlight>
              </a:rPr>
              <a:t>vDataWatchdogCallback</a:t>
            </a:r>
            <a:r>
              <a:rPr lang="zh-CN" altLang="en-US" sz="1400"/>
              <a:t>）</a:t>
            </a:r>
            <a:endParaRPr lang="zh-CN" altLang="en-US" sz="1400"/>
          </a:p>
          <a:p>
            <a:pPr algn="ctr"/>
            <a:r>
              <a:rPr lang="zh-CN" altLang="en-US" sz="1400"/>
              <a:t>【参数设置：软件定时长度</a:t>
            </a:r>
            <a:r>
              <a:rPr lang="en-US" altLang="zh-CN" sz="1400"/>
              <a:t>5000TICKS</a:t>
            </a:r>
            <a:r>
              <a:rPr lang="zh-CN" altLang="en-US" sz="1400"/>
              <a:t>（</a:t>
            </a:r>
            <a:r>
              <a:rPr lang="en-US" altLang="zh-CN" sz="1400"/>
              <a:t>5s</a:t>
            </a:r>
            <a:r>
              <a:rPr lang="zh-CN" altLang="en-US" sz="1400"/>
              <a:t>），不自动</a:t>
            </a:r>
            <a:r>
              <a:rPr lang="zh-CN" altLang="en-US" sz="1400"/>
              <a:t>重载】</a:t>
            </a:r>
            <a:endParaRPr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570" y="2212340"/>
            <a:ext cx="5887720" cy="3359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171565" y="2548255"/>
            <a:ext cx="5801360" cy="5753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/>
              <a:t>2</a:t>
            </a:r>
            <a:r>
              <a:rPr lang="zh-CN" altLang="en-US" sz="1400"/>
              <a:t>、回调函数（回调函数里禁止写入有阻塞行为的</a:t>
            </a:r>
            <a:r>
              <a:rPr lang="zh-CN" altLang="en-US" sz="1400"/>
              <a:t>操作）</a:t>
            </a:r>
            <a:endParaRPr lang="zh-CN" altLang="en-US" sz="1400"/>
          </a:p>
          <a:p>
            <a:pPr algn="ctr"/>
            <a:r>
              <a:rPr lang="zh-CN" altLang="en-US" sz="1400"/>
              <a:t>【使用队列传输的方式给出信号指令，后续操作交给其他程序</a:t>
            </a:r>
            <a:r>
              <a:rPr lang="zh-CN" altLang="en-US" sz="1400"/>
              <a:t>完成】</a:t>
            </a:r>
            <a:endParaRPr lang="zh-CN" altLang="en-US" sz="1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395" y="3197225"/>
            <a:ext cx="3949700" cy="101473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170930" y="4261485"/>
            <a:ext cx="5801360" cy="9366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/>
              <a:t>3</a:t>
            </a:r>
            <a:r>
              <a:rPr lang="zh-CN" altLang="en-US" sz="1400"/>
              <a:t>、在每一次获取到新的一组数据的开始开启定时器，若在定时器结束时间范围内成功传输所有数据，则关闭定时器，等待下一组数据的开始。若在定时器结束后仍未传输数据，进入回调函数，发送队列信息，强制所有数据</a:t>
            </a:r>
            <a:r>
              <a:rPr lang="zh-CN" altLang="en-US" sz="1400"/>
              <a:t>发送</a:t>
            </a:r>
            <a:endParaRPr lang="zh-CN" altLang="en-US" sz="14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080" y="5280660"/>
            <a:ext cx="3314065" cy="15487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遇到的问题：（更新于</a:t>
            </a:r>
            <a:r>
              <a:rPr lang="en-US" altLang="zh-CN"/>
              <a:t>2026.07.22)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8</a:t>
            </a:r>
            <a:r>
              <a:rPr lang="zh-CN" altLang="en-US">
                <a:solidFill>
                  <a:srgbClr val="FF0000"/>
                </a:solidFill>
              </a:rPr>
              <a:t>、单片机控制小灯亮灭没有问题，但是单片机控制水泵开关有概率造成屏幕卡死以及</a:t>
            </a:r>
            <a:r>
              <a:rPr lang="en-US" altLang="zh-CN">
                <a:solidFill>
                  <a:srgbClr val="FF0000"/>
                </a:solidFill>
              </a:rPr>
              <a:t>ESP8266</a:t>
            </a:r>
            <a:r>
              <a:rPr lang="zh-CN" altLang="en-US">
                <a:solidFill>
                  <a:srgbClr val="FF0000"/>
                </a:solidFill>
              </a:rPr>
              <a:t>掉线的问题</a:t>
            </a:r>
            <a:endParaRPr lang="zh-CN" altLang="en-US"/>
          </a:p>
          <a:p>
            <a:r>
              <a:rPr lang="zh-CN" altLang="en-US">
                <a:solidFill>
                  <a:srgbClr val="92D050"/>
                </a:solidFill>
              </a:rPr>
              <a:t>解决方案：该问题的原因是电磁干扰与电源瞬态拉低，可采取的方法是将关于水泵有关的所有电路进行隔离，电源单独使用，地线也单独使用，从而避免影响单片机的正常</a:t>
            </a:r>
            <a:r>
              <a:rPr lang="zh-CN" altLang="en-US">
                <a:solidFill>
                  <a:srgbClr val="92D050"/>
                </a:solidFill>
              </a:rPr>
              <a:t>工作</a:t>
            </a:r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4490" y="1410335"/>
            <a:ext cx="115481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控制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LED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LED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属于纯电阻负载，开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与关其电流变化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不大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而水泵电机属于电感性负载，在水泵启动瞬间，</a:t>
            </a:r>
            <a:r>
              <a:rPr lang="zh-CN" altLang="en-US" u="sng">
                <a:solidFill>
                  <a:srgbClr val="FF0000"/>
                </a:solidFill>
                <a:sym typeface="+mn-ea"/>
              </a:rPr>
              <a:t>启动电涌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（此时电流大小为正常运行时的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3~5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倍），并且还有</a:t>
            </a:r>
            <a:r>
              <a:rPr lang="zh-CN" altLang="en-US" u="sng">
                <a:solidFill>
                  <a:srgbClr val="FF0000"/>
                </a:solidFill>
                <a:sym typeface="+mn-ea"/>
              </a:rPr>
              <a:t>反向电动势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出现，电机线圈会产生高达几十伏甚至上百伏的反向尖峰电压。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屏幕卡死：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OLED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采用的是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I2C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通讯，该通讯方式对电磁干扰极为敏感，水泵以及继电器产生的电磁脉冲一旦干扰到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I2C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总线，就容易导致底层的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HAL_I2C_Transmit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永远卡死在一个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while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循环里等应答。此时就会导致其余传感器任务无法正常工作，也没有办法输出数据？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4490" y="211455"/>
            <a:ext cx="11659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补充：（更新于</a:t>
            </a:r>
            <a:r>
              <a:rPr lang="en-US" altLang="zh-CN"/>
              <a:t>2026.07.201)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Github</a:t>
            </a:r>
            <a:r>
              <a:rPr lang="zh-CN" altLang="en-US">
                <a:solidFill>
                  <a:srgbClr val="FF0000"/>
                </a:solidFill>
              </a:rPr>
              <a:t>上传</a:t>
            </a:r>
            <a:r>
              <a:rPr lang="zh-CN" altLang="en-US">
                <a:solidFill>
                  <a:srgbClr val="FF0000"/>
                </a:solidFill>
              </a:rPr>
              <a:t>及使用</a:t>
            </a:r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4490" y="856615"/>
            <a:ext cx="11548110" cy="5793740"/>
            <a:chOff x="602" y="1554"/>
            <a:chExt cx="18186" cy="9124"/>
          </a:xfrm>
        </p:grpSpPr>
        <p:sp>
          <p:nvSpPr>
            <p:cNvPr id="5" name="文本框 4"/>
            <p:cNvSpPr txBox="1"/>
            <p:nvPr/>
          </p:nvSpPr>
          <p:spPr>
            <a:xfrm>
              <a:off x="602" y="1554"/>
              <a:ext cx="18186" cy="91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具体内容可以参考：廖雪峰的官方网站</a:t>
              </a:r>
              <a:r>
                <a:rPr lang="en-US" altLang="zh-CN" u="sng"/>
                <a:t>https://liaoxuefeng.com/books/git/introduction/index.html</a:t>
              </a:r>
              <a:endParaRPr lang="en-US" altLang="zh-CN" u="sng"/>
            </a:p>
            <a:p>
              <a:endParaRPr lang="zh-CN" altLang="en-US" u="sng"/>
            </a:p>
            <a:p>
              <a:r>
                <a:rPr lang="zh-CN" altLang="en-US"/>
                <a:t>简单来说操作可以分为：</a:t>
              </a:r>
              <a:endParaRPr lang="zh-CN" altLang="en-US"/>
            </a:p>
            <a:p>
              <a:r>
                <a:rPr lang="en-US" altLang="zh-CN"/>
                <a:t>1</a:t>
              </a:r>
              <a:r>
                <a:rPr lang="zh-CN" altLang="en-US"/>
                <a:t>、创建版本库</a:t>
              </a:r>
              <a:r>
                <a:rPr lang="en-US" altLang="zh-CN"/>
                <a:t>  </a:t>
              </a:r>
              <a:r>
                <a:rPr lang="en-US" altLang="zh-CN" u="sng">
                  <a:solidFill>
                    <a:srgbClr val="FF0000"/>
                  </a:solidFill>
                </a:rPr>
                <a:t>git init</a:t>
              </a:r>
              <a:r>
                <a:rPr lang="zh-CN" altLang="en-US"/>
                <a:t>（使用</a:t>
              </a:r>
              <a:r>
                <a:rPr lang="en-US" altLang="zh-CN"/>
                <a:t> Windows powershell</a:t>
              </a:r>
              <a:r>
                <a:rPr lang="zh-CN" altLang="en-US"/>
                <a:t>进入你需要上传文件包的</a:t>
              </a:r>
              <a:r>
                <a:rPr lang="zh-CN" altLang="en-US"/>
                <a:t>地址）</a:t>
              </a:r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r>
                <a:rPr lang="en-US" altLang="zh-CN"/>
                <a:t>2</a:t>
              </a:r>
              <a:r>
                <a:rPr lang="zh-CN" altLang="en-US"/>
                <a:t>、将需要上传的文件依次进行</a:t>
              </a:r>
              <a:r>
                <a:rPr lang="en-US" altLang="zh-CN"/>
                <a:t>  </a:t>
              </a:r>
              <a:r>
                <a:rPr lang="en-US" altLang="zh-CN" u="sng">
                  <a:solidFill>
                    <a:srgbClr val="FF0000"/>
                  </a:solidFill>
                </a:rPr>
                <a:t>git add</a:t>
              </a:r>
              <a:r>
                <a:rPr lang="zh-CN" altLang="en-US" u="sng">
                  <a:solidFill>
                    <a:srgbClr val="FF0000"/>
                  </a:solidFill>
                </a:rPr>
                <a:t>（文件添加到库）</a:t>
              </a:r>
              <a:r>
                <a:rPr lang="en-US" altLang="zh-CN"/>
                <a:t>  </a:t>
              </a:r>
              <a:r>
                <a:rPr lang="zh-CN" altLang="en-US"/>
                <a:t>操作以及</a:t>
              </a:r>
              <a:r>
                <a:rPr lang="en-US" altLang="zh-CN"/>
                <a:t>  </a:t>
              </a:r>
              <a:r>
                <a:rPr lang="en-US" altLang="zh-CN" u="sng">
                  <a:solidFill>
                    <a:srgbClr val="FF0000"/>
                  </a:solidFill>
                </a:rPr>
                <a:t>git commit</a:t>
              </a:r>
              <a:r>
                <a:rPr lang="zh-CN" altLang="en-US" u="sng">
                  <a:solidFill>
                    <a:srgbClr val="FF0000"/>
                  </a:solidFill>
                </a:rPr>
                <a:t>（文件提交到</a:t>
              </a:r>
              <a:r>
                <a:rPr lang="zh-CN" altLang="en-US" u="sng">
                  <a:solidFill>
                    <a:srgbClr val="FF0000"/>
                  </a:solidFill>
                </a:rPr>
                <a:t>仓库）</a:t>
              </a:r>
              <a:r>
                <a:rPr lang="en-US" altLang="zh-CN"/>
                <a:t>  </a:t>
              </a:r>
              <a:r>
                <a:rPr lang="zh-CN" altLang="en-US"/>
                <a:t>操作</a:t>
              </a:r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r>
                <a:rPr lang="en-US" altLang="zh-CN"/>
                <a:t>3</a:t>
              </a:r>
              <a:r>
                <a:rPr lang="zh-CN" altLang="en-US"/>
                <a:t>、新建</a:t>
              </a:r>
              <a:r>
                <a:rPr lang="en-US" altLang="zh-CN"/>
                <a:t>githuub</a:t>
              </a:r>
              <a:r>
                <a:rPr lang="zh-CN" altLang="en-US"/>
                <a:t>仓库，将</a:t>
              </a:r>
              <a:r>
                <a:rPr lang="en-US" altLang="zh-CN"/>
                <a:t>Github</a:t>
              </a:r>
              <a:r>
                <a:rPr lang="zh-CN" altLang="en-US"/>
                <a:t>仓库和本地仓库关联（后续步骤</a:t>
              </a:r>
              <a:r>
                <a:rPr lang="en-US" altLang="zh-CN"/>
                <a:t>github</a:t>
              </a:r>
              <a:r>
                <a:rPr lang="zh-CN" altLang="en-US"/>
                <a:t>上已有</a:t>
              </a:r>
              <a:r>
                <a:rPr lang="zh-CN" altLang="en-US"/>
                <a:t>教程）</a:t>
              </a:r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r>
                <a:rPr lang="en-US" altLang="zh-CN">
                  <a:sym typeface="+mn-ea"/>
                </a:rPr>
                <a:t>4</a:t>
              </a:r>
              <a:r>
                <a:rPr lang="zh-CN" altLang="en-US">
                  <a:sym typeface="+mn-ea"/>
                </a:rPr>
                <a:t>、将本地库的所有内容都推送到</a:t>
              </a:r>
              <a:r>
                <a:rPr lang="zh-CN" altLang="en-US">
                  <a:sym typeface="+mn-ea"/>
                </a:rPr>
                <a:t>远程库</a:t>
              </a:r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  <a:p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rcRect t="39718"/>
            <a:stretch>
              <a:fillRect/>
            </a:stretch>
          </p:blipFill>
          <p:spPr>
            <a:xfrm>
              <a:off x="1241" y="3461"/>
              <a:ext cx="13184" cy="1111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" y="5211"/>
              <a:ext cx="13184" cy="73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" y="5950"/>
              <a:ext cx="13183" cy="195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1" y="8578"/>
              <a:ext cx="13184" cy="75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5475" y="8714"/>
              <a:ext cx="5650" cy="483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400"/>
                <a:t>自己的</a:t>
              </a:r>
              <a:r>
                <a:rPr lang="en-US" altLang="zh-CN" sz="1400"/>
                <a:t>github</a:t>
              </a:r>
              <a:r>
                <a:rPr lang="zh-CN" altLang="en-US" sz="1400"/>
                <a:t>账户</a:t>
              </a:r>
              <a:endParaRPr lang="zh-CN" altLang="en-US" sz="1400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2" y="9872"/>
              <a:ext cx="13183" cy="692"/>
            </a:xfrm>
            <a:prstGeom prst="rect">
              <a:avLst/>
            </a:prstGeom>
          </p:spPr>
        </p:pic>
      </p:grp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28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29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0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1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2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3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4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5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6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7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8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39.xml><?xml version="1.0" encoding="utf-8"?>
<p:tagLst xmlns:p="http://schemas.openxmlformats.org/presentationml/2006/main">
  <p:tag name="KSO_WM_DIAGRAM_VIRTUALLY_FRAME" val="{&quot;height&quot;:295.3,&quot;left&quot;:136.5,&quot;top&quot;:144.7,&quot;width&quot;:693.8}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],&quot;65&quot;:[20205081]}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],&quot;65&quot;:[20205081]}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],&quot;65&quot;:[20205081]}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],&quot;65&quot;:[20205081]}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],&quot;65&quot;:[20205081]}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],&quot;65&quot;:[20205081]}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],&quot;65&quot;:[20205081]}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],&quot;65&quot;:[20205081]}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,50059450],&quot;65&quot;:[20205081]}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],&quot;65&quot;:[20205081]}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,50062355],&quot;65&quot;:[20205081]}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,50062355],&quot;65&quot;:[20205081]}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],&quot;65&quot;:[20205081]}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],&quot;65&quot;:[20205081]}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375,50059516,50059483],&quot;65&quot;:[20205081]}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4.xml><?xml version="1.0" encoding="utf-8"?>
<p:tagLst xmlns:p="http://schemas.openxmlformats.org/presentationml/2006/main">
  <p:tag name="TABLE_ENDDRAG_ORIGIN_RECT" val="842*303"/>
  <p:tag name="TABLE_ENDDRAG_RECT" val="45*236*842*303"/>
</p:tagLst>
</file>

<file path=ppt/tags/tag1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160,50000199],&quot;65&quot;:[20205081]}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160,50000199],&quot;65&quot;:[20205081]}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160,50000199],&quot;65&quot;:[20205081]}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160,50000199],&quot;65&quot;:[20205081]}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160,50000199],&quot;65&quot;:[20205081]}"/>
</p:tagLst>
</file>

<file path=ppt/tags/tag180.xml><?xml version="1.0" encoding="utf-8"?>
<p:tagLst xmlns:p="http://schemas.openxmlformats.org/presentationml/2006/main">
  <p:tag name="resource_record_key" val="{&quot;10&quot;:[50059375,50059516,50059483,50059450,50062355],&quot;29&quot;:[50053160,5000019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16897</Words>
  <Application>WPS 演示</Application>
  <PresentationFormat>宽屏</PresentationFormat>
  <Paragraphs>682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宋体</vt:lpstr>
      <vt:lpstr>Wingdings</vt:lpstr>
      <vt:lpstr>Wingdings</vt:lpstr>
      <vt:lpstr>PingFang SC</vt:lpstr>
      <vt:lpstr>黑体</vt:lpstr>
      <vt:lpstr>微软雅黑</vt:lpstr>
      <vt:lpstr>Arial Unicode MS</vt:lpstr>
      <vt:lpstr>Calibri</vt:lpstr>
      <vt:lpstr>Cambria Math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粽</cp:lastModifiedBy>
  <cp:revision>181</cp:revision>
  <dcterms:created xsi:type="dcterms:W3CDTF">2026-05-20T08:29:00Z</dcterms:created>
  <dcterms:modified xsi:type="dcterms:W3CDTF">2026-07-21T16:34:52Z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913E1CD166D2421AA698DF54814CB2F0_13</vt:lpwstr>
  </property>
</Properties>
</file>